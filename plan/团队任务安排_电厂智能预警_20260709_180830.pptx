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190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3" name="Line 3"/>
          <p:cNvSpPr/>
          <p:nvPr/>
        </p:nvSpPr>
        <p:spPr>
          <a:xfrm>
            <a:off x="0" y="4762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4" name="Line 4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1262D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143000"/>
            <a:ext cx="1143000" cy="11430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58A6FF"/>
            </a:solidFill>
            <a:prstDash val="lgDash"/>
          </a:ln>
        </p:spPr>
      </p:sp>
      <p:sp>
        <p:nvSpPr>
          <p:cNvPr id="7" name="Rectangle 7"/>
          <p:cNvSpPr/>
          <p:nvPr/>
        </p:nvSpPr>
        <p:spPr>
          <a:xfrm>
            <a:off x="10287000" y="4953000"/>
            <a:ext cx="1143000" cy="11430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BC8CFF"/>
            </a:solidFill>
            <a:prstDash val="lgDash"/>
          </a:ln>
        </p:spPr>
      </p:sp>
      <p:sp>
        <p:nvSpPr>
          <p:cNvPr id="8" name="Rectangle 8"/>
          <p:cNvSpPr/>
          <p:nvPr/>
        </p:nvSpPr>
        <p:spPr>
          <a:xfrm>
            <a:off x="1333500" y="5143500"/>
            <a:ext cx="571500" cy="57150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3FB950"/>
            </a:solidFill>
            <a:custDash>
              <a:ds d="400000" sp="300000"/>
            </a:custDash>
          </a:ln>
        </p:spPr>
      </p:sp>
      <p:sp>
        <p:nvSpPr>
          <p:cNvPr id="9" name="Ellipse 9"/>
          <p:cNvSpPr/>
          <p:nvPr/>
        </p:nvSpPr>
        <p:spPr>
          <a:xfrm>
            <a:off x="10639425" y="1685925"/>
            <a:ext cx="57150" cy="5715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829925" y="1685925"/>
            <a:ext cx="57150" cy="5715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020425" y="1685925"/>
            <a:ext cx="57150" cy="5715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405416" y="1986915"/>
            <a:ext cx="5381168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团队任务安排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3786" y="3136582"/>
            <a:ext cx="34244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电厂智能预警系统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15907" y="3916680"/>
            <a:ext cx="576018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四角色协作 · 八周交付计划 · 完整开发路线图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095500" y="5429250"/>
            <a:ext cx="7334250" cy="381000"/>
            <a:chOff x="2095500" y="5429250"/>
            <a:chExt cx="7334250" cy="381000"/>
          </a:xfrm>
        </p:grpSpPr>
        <p:sp>
          <p:nvSpPr>
            <p:cNvPr id="15" name="Rectangle 15"/>
            <p:cNvSpPr/>
            <p:nvPr/>
          </p:nvSpPr>
          <p:spPr>
            <a:xfrm>
              <a:off x="2095500" y="5429250"/>
              <a:ext cx="1619250" cy="381000"/>
            </a:xfrm>
            <a:prstGeom prst="roundRect">
              <a:avLst>
                <a:gd name="adj" fmla="val 12500"/>
              </a:avLst>
            </a:prstGeom>
            <a:solidFill>
              <a:srgbClr val="161B22"/>
            </a:solidFill>
            <a:ln w="14288">
              <a:solidFill>
                <a:srgbClr val="30363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40410" y="5531168"/>
              <a:ext cx="9294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3FB950"/>
                  </a:solidFill>
                  <a:latin typeface="Arial"/>
                  <a:ea typeface="Arial"/>
                  <a:cs typeface="Arial"/>
                </a:rPr>
                <a:t>LLM Agent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000500" y="5429250"/>
              <a:ext cx="1619250" cy="381000"/>
            </a:xfrm>
            <a:prstGeom prst="roundRect">
              <a:avLst>
                <a:gd name="adj" fmla="val 12500"/>
              </a:avLst>
            </a:prstGeom>
            <a:solidFill>
              <a:srgbClr val="161B22"/>
            </a:solidFill>
            <a:ln w="14288">
              <a:solidFill>
                <a:srgbClr val="30363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39793" y="553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时序分析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905500" y="5429250"/>
              <a:ext cx="1619250" cy="381000"/>
            </a:xfrm>
            <a:prstGeom prst="roundRect">
              <a:avLst>
                <a:gd name="adj" fmla="val 12500"/>
              </a:avLst>
            </a:prstGeom>
            <a:solidFill>
              <a:srgbClr val="161B22"/>
            </a:solidFill>
            <a:ln w="14288">
              <a:solidFill>
                <a:srgbClr val="30363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4793" y="553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知识增强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0" y="5429250"/>
              <a:ext cx="1619250" cy="381000"/>
            </a:xfrm>
            <a:prstGeom prst="roundRect">
              <a:avLst>
                <a:gd name="adj" fmla="val 12500"/>
              </a:avLst>
            </a:prstGeom>
            <a:solidFill>
              <a:srgbClr val="161B22"/>
            </a:solidFill>
            <a:ln w="14288">
              <a:solidFill>
                <a:srgbClr val="30363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29048" y="5531168"/>
              <a:ext cx="782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Web 监控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46404" y="6442710"/>
            <a:ext cx="38961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Team Collaboration Plan · 2026 · 电厂智能预警系统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744231" y="21240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团队角色总览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77316" y="679132"/>
            <a:ext cx="363736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四大角色分工 · 各司其职 · 紧密协作</a:t>
            </a:r>
          </a:p>
        </p:txBody>
      </p:sp>
      <p:sp>
        <p:nvSpPr>
          <p:cNvPr id="5" name="Line 5"/>
          <p:cNvSpPr/>
          <p:nvPr/>
        </p:nvSpPr>
        <p:spPr>
          <a:xfrm>
            <a:off x="3238500" y="10287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476250" y="1333500"/>
            <a:ext cx="5726302" cy="2476500"/>
            <a:chOff x="476250" y="1333500"/>
            <a:chExt cx="5726302" cy="2476500"/>
          </a:xfrm>
        </p:grpSpPr>
        <p:sp>
          <p:nvSpPr>
            <p:cNvPr id="6" name="Rectangle 6"/>
            <p:cNvSpPr/>
            <p:nvPr/>
          </p:nvSpPr>
          <p:spPr>
            <a:xfrm>
              <a:off x="476250" y="1333500"/>
              <a:ext cx="5429250" cy="2476500"/>
            </a:xfrm>
            <a:prstGeom prst="roundRect">
              <a:avLst>
                <a:gd name="adj" fmla="val 3846"/>
              </a:avLst>
            </a:prstGeom>
            <a:gradFill>
              <a:gsLst>
                <a:gs pos="0">
                  <a:srgbClr val="161B22"/>
                </a:gs>
                <a:gs pos="100000">
                  <a:srgbClr val="1A2332"/>
                </a:gs>
              </a:gsLst>
              <a:lin ang="2700000" scaled="1"/>
            </a:gradFill>
            <a:ln w="19050">
              <a:solidFill>
                <a:srgbClr val="58A6F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76250" y="1333500"/>
              <a:ext cx="5429250" cy="476250"/>
            </a:xfrm>
            <a:prstGeom prst="roundRect">
              <a:avLst>
                <a:gd name="adj" fmla="val 2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76250" y="1571625"/>
              <a:ext cx="5429250" cy="238125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3707" y="1421130"/>
              <a:ext cx="44822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D1117"/>
                  </a:solidFill>
                  <a:latin typeface="Arial"/>
                  <a:ea typeface="Microsoft YaHei"/>
                  <a:cs typeface="Arial"/>
                </a:rPr>
                <a:t>队长 A — 系统架构与Agent负责人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76682" y="1485900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b="1" dirty="0">
                  <a:solidFill>
                    <a:srgbClr val="0D1117"/>
                  </a:solidFill>
                  <a:latin typeface="Consolas"/>
                  <a:ea typeface="Consolas"/>
                  <a:cs typeface="Consolas"/>
                </a:rPr>
                <a:t>★★★★★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5993" y="2012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核心职责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6755" y="2314575"/>
              <a:ext cx="4346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系统大脑 · 后端服务 · 系统集成 · 技术路线决策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5993" y="2727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负责模块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14375" y="3028950"/>
              <a:ext cx="1476375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58A6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5815" y="3089910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Agent 控制系统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33625" y="3028950"/>
              <a:ext cx="1238250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58A6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54685" y="3089910"/>
              <a:ext cx="996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FastAPI 后端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14750" y="3028950"/>
              <a:ext cx="1238250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58A6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04691" y="3089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系统集成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7517" y="3473768"/>
              <a:ext cx="5495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技术栈：DeepSeek · LangGraph · Prompt Engineering · FastAPI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333500"/>
            <a:ext cx="5429250" cy="2476500"/>
            <a:chOff x="6286500" y="1333500"/>
            <a:chExt cx="5429250" cy="24765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333500"/>
              <a:ext cx="5429250" cy="2476500"/>
            </a:xfrm>
            <a:prstGeom prst="roundRect">
              <a:avLst>
                <a:gd name="adj" fmla="val 3846"/>
              </a:avLst>
            </a:prstGeom>
            <a:gradFill>
              <a:gsLst>
                <a:gs pos="0">
                  <a:srgbClr val="161B22"/>
                </a:gs>
                <a:gs pos="100000">
                  <a:srgbClr val="1A2A1A"/>
                </a:gs>
              </a:gsLst>
              <a:lin ang="2700000" scaled="1"/>
            </a:gradFill>
            <a:ln w="19050">
              <a:solidFill>
                <a:srgbClr val="3FB95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1333500"/>
              <a:ext cx="5429250" cy="476250"/>
            </a:xfrm>
            <a:prstGeom prst="roundRect">
              <a:avLst>
                <a:gd name="adj" fmla="val 20000"/>
              </a:avLst>
            </a:prstGeom>
            <a:solidFill>
              <a:srgbClr val="3FB95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571625"/>
              <a:ext cx="5429250" cy="238125"/>
            </a:xfrm>
            <a:prstGeom prst="rect">
              <a:avLst/>
            </a:prstGeom>
            <a:solidFill>
              <a:srgbClr val="3FB95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13957" y="1421130"/>
              <a:ext cx="44122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D1117"/>
                  </a:solidFill>
                  <a:latin typeface="Arial"/>
                  <a:ea typeface="Microsoft YaHei"/>
                  <a:cs typeface="Arial"/>
                </a:rPr>
                <a:t>主力 B — 工业数据与算法负责人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86932" y="1485900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b="1" dirty="0">
                  <a:solidFill>
                    <a:srgbClr val="0D1117"/>
                  </a:solidFill>
                  <a:latin typeface="Consolas"/>
                  <a:ea typeface="Consolas"/>
                  <a:cs typeface="Consolas"/>
                </a:rPr>
                <a:t>★★★★★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6243" y="2012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核心职责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17005" y="2314575"/>
              <a:ext cx="4548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数据工程 · 预警算法 · 预测模型 · 模型自适应优化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16243" y="2727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负责模块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24625" y="3028950"/>
              <a:ext cx="1190625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3FB95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5991" y="3089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数据系统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58125" y="3028950"/>
              <a:ext cx="1190625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3FB95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19491" y="3089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预警算法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91625" y="3028950"/>
              <a:ext cx="1190625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3FB95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52991" y="3089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预测模型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525125" y="3028950"/>
              <a:ext cx="952500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3FB95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672191" y="3089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模型优化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17767" y="3473768"/>
              <a:ext cx="4681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技术栈：PostgreSQL · TimescaleDB · Prophet · LSTM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76250" y="4000500"/>
            <a:ext cx="5437197" cy="1895856"/>
            <a:chOff x="476250" y="4000500"/>
            <a:chExt cx="5437197" cy="1895856"/>
          </a:xfrm>
        </p:grpSpPr>
        <p:sp>
          <p:nvSpPr>
            <p:cNvPr id="40" name="Rectangle 40"/>
            <p:cNvSpPr/>
            <p:nvPr/>
          </p:nvSpPr>
          <p:spPr>
            <a:xfrm>
              <a:off x="476250" y="4000500"/>
              <a:ext cx="5429250" cy="1809750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161B22"/>
                </a:gs>
                <a:gs pos="100000">
                  <a:srgbClr val="1A1A2A"/>
                </a:gs>
              </a:gsLst>
              <a:lin ang="2700000" scaled="1"/>
            </a:gradFill>
            <a:ln w="19050">
              <a:solidFill>
                <a:srgbClr val="BC8CF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6250" y="4000500"/>
              <a:ext cx="5429250" cy="476250"/>
            </a:xfrm>
            <a:prstGeom prst="roundRect">
              <a:avLst>
                <a:gd name="adj" fmla="val 20000"/>
              </a:avLst>
            </a:prstGeom>
            <a:solidFill>
              <a:srgbClr val="BC8CF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76250" y="4238625"/>
              <a:ext cx="5429250" cy="238125"/>
            </a:xfrm>
            <a:prstGeom prst="rect">
              <a:avLst/>
            </a:prstGeom>
            <a:solidFill>
              <a:srgbClr val="BC8C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3707" y="4088130"/>
              <a:ext cx="3785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D1117"/>
                  </a:solidFill>
                  <a:latin typeface="Arial"/>
                  <a:ea typeface="Microsoft YaHei"/>
                  <a:cs typeface="Arial"/>
                </a:rPr>
                <a:t>主力 C — 前端与产品负责人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93297" y="415290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b="1" dirty="0">
                  <a:solidFill>
                    <a:srgbClr val="0D1117"/>
                  </a:solidFill>
                  <a:latin typeface="Consolas"/>
                  <a:ea typeface="Consolas"/>
                  <a:cs typeface="Consolas"/>
                </a:rPr>
                <a:t>★★★★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5993" y="4632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核心职责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6755" y="4933950"/>
              <a:ext cx="5206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Web 监控平台 · 数据可视化 · Demo 交互设计 · 产品体验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5993" y="52987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负责模块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4375" y="5600700"/>
              <a:ext cx="1476375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BC8CF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5584" y="5661660"/>
              <a:ext cx="1024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Web 监控平台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333625" y="5600700"/>
              <a:ext cx="1476375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BC8CF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657094" y="56616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数据可视化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952875" y="5600700"/>
              <a:ext cx="1476375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BC8CF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95204" y="5661660"/>
              <a:ext cx="782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Demo 交互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286500" y="4000500"/>
            <a:ext cx="5429250" cy="1895856"/>
            <a:chOff x="6286500" y="4000500"/>
            <a:chExt cx="5429250" cy="1895856"/>
          </a:xfrm>
        </p:grpSpPr>
        <p:sp>
          <p:nvSpPr>
            <p:cNvPr id="55" name="Rectangle 55"/>
            <p:cNvSpPr/>
            <p:nvPr/>
          </p:nvSpPr>
          <p:spPr>
            <a:xfrm>
              <a:off x="6286500" y="4000500"/>
              <a:ext cx="5429250" cy="1809750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161B22"/>
                </a:gs>
                <a:gs pos="100000">
                  <a:srgbClr val="2A1A1A"/>
                </a:gs>
              </a:gsLst>
              <a:lin ang="2700000" scaled="1"/>
            </a:gradFill>
            <a:ln w="19050">
              <a:solidFill>
                <a:srgbClr val="D29922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86500" y="4000500"/>
              <a:ext cx="5429250" cy="476250"/>
            </a:xfrm>
            <a:prstGeom prst="roundRect">
              <a:avLst>
                <a:gd name="adj" fmla="val 20000"/>
              </a:avLst>
            </a:prstGeom>
            <a:solidFill>
              <a:srgbClr val="D2992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86500" y="4238625"/>
              <a:ext cx="5429250" cy="238125"/>
            </a:xfrm>
            <a:prstGeom prst="rect">
              <a:avLst/>
            </a:prstGeom>
            <a:solidFill>
              <a:srgbClr val="D2992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13957" y="4088130"/>
              <a:ext cx="47259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D1117"/>
                  </a:solidFill>
                  <a:latin typeface="Arial"/>
                  <a:ea typeface="Microsoft YaHei"/>
                  <a:cs typeface="Arial"/>
                </a:rPr>
                <a:t>辅助 D — 知识库与测试交付负责人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20161" y="4152900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b="1" dirty="0">
                  <a:solidFill>
                    <a:srgbClr val="0D1117"/>
                  </a:solidFill>
                  <a:latin typeface="Consolas"/>
                  <a:ea typeface="Consolas"/>
                  <a:cs typeface="Consolas"/>
                </a:rPr>
                <a:t>★★★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16243" y="4632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核心职责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17005" y="4933950"/>
              <a:ext cx="4367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RAG 知识库 · 测试验证 · 比赛材料 · 文档交付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16243" y="52987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负责模块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524625" y="5600700"/>
              <a:ext cx="1476375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D29922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48094" y="56616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知识库建设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43875" y="5600700"/>
              <a:ext cx="1238250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D2992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33816" y="5661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测试验证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525000" y="5600700"/>
              <a:ext cx="1524000" cy="266700"/>
            </a:xfrm>
            <a:prstGeom prst="roundRect">
              <a:avLst>
                <a:gd name="adj" fmla="val 14286"/>
              </a:avLst>
            </a:prstGeom>
            <a:solidFill>
              <a:srgbClr val="0D1117"/>
            </a:solidFill>
            <a:ln w="9525">
              <a:solidFill>
                <a:srgbClr val="D29922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957816" y="5661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比赛材料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6501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076348" y="183833"/>
            <a:ext cx="403930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系统架构与角色映射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88511" y="62198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每位成员在系统架构中的位置与职责边界</a:t>
            </a:r>
          </a:p>
        </p:txBody>
      </p:sp>
      <p:sp>
        <p:nvSpPr>
          <p:cNvPr id="5" name="Line 5"/>
          <p:cNvSpPr/>
          <p:nvPr/>
        </p:nvSpPr>
        <p:spPr>
          <a:xfrm>
            <a:off x="3238500" y="9525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143500" y="11906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9050">
            <a:solidFill>
              <a:srgbClr val="58A6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86450" y="12668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用户</a:t>
            </a:r>
          </a:p>
        </p:txBody>
      </p:sp>
      <p:sp>
        <p:nvSpPr>
          <p:cNvPr id="8" name="Line 8"/>
          <p:cNvSpPr/>
          <p:nvPr/>
        </p:nvSpPr>
        <p:spPr>
          <a:xfrm>
            <a:off x="6096000" y="157162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9" name="Polygon 9"/>
          <p:cNvSpPr/>
          <p:nvPr/>
        </p:nvSpPr>
        <p:spPr>
          <a:xfrm>
            <a:off x="6048375" y="17335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8B949E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667250" y="1857375"/>
            <a:ext cx="2857500" cy="523875"/>
          </a:xfrm>
          <a:prstGeom prst="roundRect">
            <a:avLst>
              <a:gd name="adj" fmla="val 14545"/>
            </a:avLst>
          </a:prstGeom>
          <a:solidFill>
            <a:srgbClr val="1A2332"/>
          </a:solidFill>
          <a:ln w="19050">
            <a:solidFill>
              <a:srgbClr val="58A6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256178" y="1898332"/>
            <a:ext cx="167964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Agent 控制中心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46674" y="2156460"/>
            <a:ext cx="4986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A 负责</a:t>
            </a:r>
          </a:p>
        </p:txBody>
      </p:sp>
      <p:sp>
        <p:nvSpPr>
          <p:cNvPr id="13" name="Line 13"/>
          <p:cNvSpPr/>
          <p:nvPr/>
        </p:nvSpPr>
        <p:spPr>
          <a:xfrm>
            <a:off x="6096000" y="23812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14" name="Line 14"/>
          <p:cNvSpPr/>
          <p:nvPr/>
        </p:nvSpPr>
        <p:spPr>
          <a:xfrm>
            <a:off x="1238250" y="2571750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48577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15" name="Line 15"/>
          <p:cNvSpPr/>
          <p:nvPr/>
        </p:nvSpPr>
        <p:spPr>
          <a:xfrm>
            <a:off x="3476625" y="2571750"/>
            <a:ext cx="2619375" cy="9525"/>
          </a:xfrm>
          <a:custGeom>
            <a:avLst/>
            <a:gdLst/>
            <a:ahLst/>
            <a:cxnLst/>
            <a:rect l="l" t="t" r="r" b="b"/>
            <a:pathLst>
              <a:path w="2619375" h="9525">
                <a:moveTo>
                  <a:pt x="26193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16" name="Line 16"/>
          <p:cNvSpPr/>
          <p:nvPr/>
        </p:nvSpPr>
        <p:spPr>
          <a:xfrm>
            <a:off x="6096000" y="2571750"/>
            <a:ext cx="2619375" cy="9525"/>
          </a:xfrm>
          <a:custGeom>
            <a:avLst/>
            <a:gdLst/>
            <a:ahLst/>
            <a:cxnLst/>
            <a:rect l="l" t="t" r="r" b="b"/>
            <a:pathLst>
              <a:path w="2619375" h="9525">
                <a:moveTo>
                  <a:pt x="0" y="0"/>
                </a:moveTo>
                <a:lnTo>
                  <a:pt x="2619375" y="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17" name="Line 17"/>
          <p:cNvSpPr/>
          <p:nvPr/>
        </p:nvSpPr>
        <p:spPr>
          <a:xfrm>
            <a:off x="6096000" y="2571750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38250" y="25717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19" name="Line 19"/>
          <p:cNvSpPr/>
          <p:nvPr/>
        </p:nvSpPr>
        <p:spPr>
          <a:xfrm>
            <a:off x="3476625" y="25717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20" name="Line 20"/>
          <p:cNvSpPr/>
          <p:nvPr/>
        </p:nvSpPr>
        <p:spPr>
          <a:xfrm>
            <a:off x="8715375" y="25717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21" name="Line 21"/>
          <p:cNvSpPr/>
          <p:nvPr/>
        </p:nvSpPr>
        <p:spPr>
          <a:xfrm>
            <a:off x="10953750" y="25717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6048375" y="25527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8B949E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28625" y="2857500"/>
            <a:ext cx="1619250" cy="762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3FB95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73698" y="2981325"/>
            <a:ext cx="9291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数据 Tool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4634" y="325183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数据查询 · 存储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0089" y="3458528"/>
            <a:ext cx="4363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B 负责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667000" y="2857500"/>
            <a:ext cx="1619250" cy="762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3FB95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012073" y="2981325"/>
            <a:ext cx="9291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算法 Tool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54553" y="32518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预警 · 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58464" y="3458528"/>
            <a:ext cx="4363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B 负责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905750" y="2857500"/>
            <a:ext cx="1619250" cy="762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D29922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280930" y="2981325"/>
            <a:ext cx="868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D29922"/>
                </a:solidFill>
                <a:latin typeface="Arial"/>
                <a:ea typeface="Arial"/>
                <a:cs typeface="Arial"/>
              </a:rPr>
              <a:t>RAG Tool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24647" y="3251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故障诊断检索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97214" y="3458528"/>
            <a:ext cx="4363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D 负责</a:t>
            </a:r>
          </a:p>
        </p:txBody>
      </p:sp>
      <p:sp>
        <p:nvSpPr>
          <p:cNvPr id="35" name="Rectangle 35"/>
          <p:cNvSpPr/>
          <p:nvPr/>
        </p:nvSpPr>
        <p:spPr>
          <a:xfrm>
            <a:off x="10144125" y="2857500"/>
            <a:ext cx="1619250" cy="762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BC8CFF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522077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展示系统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99459" y="3251835"/>
            <a:ext cx="13085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Web · Dashboard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35589" y="3458528"/>
            <a:ext cx="4363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C 负责</a:t>
            </a:r>
          </a:p>
        </p:txBody>
      </p:sp>
      <p:sp>
        <p:nvSpPr>
          <p:cNvPr id="39" name="Line 39"/>
          <p:cNvSpPr/>
          <p:nvPr/>
        </p:nvSpPr>
        <p:spPr>
          <a:xfrm>
            <a:off x="6096000" y="3810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40" name="Line 40"/>
          <p:cNvSpPr/>
          <p:nvPr/>
        </p:nvSpPr>
        <p:spPr>
          <a:xfrm>
            <a:off x="1238250" y="3619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8B949E"/>
            </a:solidFill>
          </a:ln>
        </p:spPr>
      </p:sp>
      <p:sp>
        <p:nvSpPr>
          <p:cNvPr id="41" name="Line 41"/>
          <p:cNvSpPr/>
          <p:nvPr/>
        </p:nvSpPr>
        <p:spPr>
          <a:xfrm>
            <a:off x="3476625" y="3619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8B949E"/>
            </a:solidFill>
          </a:ln>
        </p:spPr>
      </p:sp>
      <p:sp>
        <p:nvSpPr>
          <p:cNvPr id="42" name="Line 42"/>
          <p:cNvSpPr/>
          <p:nvPr/>
        </p:nvSpPr>
        <p:spPr>
          <a:xfrm>
            <a:off x="8715375" y="3619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8B949E"/>
            </a:solidFill>
          </a:ln>
        </p:spPr>
      </p:sp>
      <p:sp>
        <p:nvSpPr>
          <p:cNvPr id="43" name="Line 43"/>
          <p:cNvSpPr/>
          <p:nvPr/>
        </p:nvSpPr>
        <p:spPr>
          <a:xfrm>
            <a:off x="10953750" y="3619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8B949E"/>
            </a:solidFill>
          </a:ln>
        </p:spPr>
      </p:sp>
      <p:sp>
        <p:nvSpPr>
          <p:cNvPr id="44" name="Line 44"/>
          <p:cNvSpPr/>
          <p:nvPr/>
        </p:nvSpPr>
        <p:spPr>
          <a:xfrm>
            <a:off x="1238250" y="381000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8B949E"/>
            </a:solidFill>
          </a:ln>
        </p:spPr>
      </p:sp>
      <p:sp>
        <p:nvSpPr>
          <p:cNvPr id="45" name="Line 45"/>
          <p:cNvSpPr/>
          <p:nvPr/>
        </p:nvSpPr>
        <p:spPr>
          <a:xfrm>
            <a:off x="1238250" y="3810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8B949E"/>
            </a:solidFill>
          </a:ln>
        </p:spPr>
      </p:sp>
      <p:sp>
        <p:nvSpPr>
          <p:cNvPr id="46" name="Line 46"/>
          <p:cNvSpPr/>
          <p:nvPr/>
        </p:nvSpPr>
        <p:spPr>
          <a:xfrm>
            <a:off x="3476625" y="3810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8B949E"/>
            </a:solidFill>
          </a:ln>
        </p:spPr>
      </p:sp>
      <p:sp>
        <p:nvSpPr>
          <p:cNvPr id="47" name="Line 47"/>
          <p:cNvSpPr/>
          <p:nvPr/>
        </p:nvSpPr>
        <p:spPr>
          <a:xfrm>
            <a:off x="8715375" y="3810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8B949E"/>
            </a:solidFill>
          </a:ln>
        </p:spPr>
      </p:sp>
      <p:sp>
        <p:nvSpPr>
          <p:cNvPr id="48" name="Line 48"/>
          <p:cNvSpPr/>
          <p:nvPr/>
        </p:nvSpPr>
        <p:spPr>
          <a:xfrm>
            <a:off x="10953750" y="3810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8B949E"/>
            </a:solidFill>
          </a:ln>
        </p:spPr>
      </p:sp>
      <p:sp>
        <p:nvSpPr>
          <p:cNvPr id="49" name="Polygon 49"/>
          <p:cNvSpPr/>
          <p:nvPr/>
        </p:nvSpPr>
        <p:spPr>
          <a:xfrm>
            <a:off x="6048375" y="39814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8B949E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2857500" y="4095750"/>
            <a:ext cx="6477000" cy="619125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558314" y="417195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数据基础层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753426" y="4442460"/>
            <a:ext cx="46851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PostgreSQL · TimescaleDB · 模拟电厂数据（B + D 共同维护）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467868" y="4917758"/>
            <a:ext cx="11247882" cy="1902142"/>
            <a:chOff x="467868" y="4917758"/>
            <a:chExt cx="11247882" cy="1902142"/>
          </a:xfrm>
        </p:grpSpPr>
        <p:sp>
          <p:nvSpPr>
            <p:cNvPr id="53" name="TextBox 53"/>
            <p:cNvSpPr txBox="1"/>
            <p:nvPr/>
          </p:nvSpPr>
          <p:spPr>
            <a:xfrm>
              <a:off x="467868" y="491775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关键协作关系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76250" y="5238750"/>
              <a:ext cx="11239500" cy="523875"/>
            </a:xfrm>
            <a:prstGeom prst="roundRect">
              <a:avLst>
                <a:gd name="adj" fmla="val 10909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5142" y="5312092"/>
              <a:ext cx="445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A ↔ 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612392" y="53120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最高优先级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22904" y="5328285"/>
              <a:ext cx="4245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B 提供 warning_tool / predict_tool → A 负责 Agent 调用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76250" y="5838825"/>
              <a:ext cx="11239500" cy="523875"/>
            </a:xfrm>
            <a:prstGeom prst="roundRect">
              <a:avLst>
                <a:gd name="adj" fmla="val 10909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5142" y="5912168"/>
              <a:ext cx="445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A ↔ C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612392" y="5912168"/>
              <a:ext cx="2039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A 提供 API → C 负责展示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041392" y="5912168"/>
              <a:ext cx="445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A ↔ 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84392" y="5912168"/>
              <a:ext cx="3401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D 提供 diagnosis_tool → A 负责 RAG 接入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76250" y="6438900"/>
              <a:ext cx="5524500" cy="381000"/>
            </a:xfrm>
            <a:prstGeom prst="roundRect">
              <a:avLst>
                <a:gd name="adj" fmla="val 15000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55142" y="6531292"/>
              <a:ext cx="445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B ↔ 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612392" y="6531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共同维护故障案例库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6501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5498" y="183833"/>
            <a:ext cx="672344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队长 A — 系统架构与Agent负责人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666750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8133" y="707231"/>
            <a:ext cx="4487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0D1117"/>
                </a:solidFill>
                <a:latin typeface="Arial"/>
                <a:ea typeface="Arial"/>
                <a:cs typeface="Arial"/>
              </a:rPr>
              <a:t>★★★★★</a:t>
            </a:r>
          </a:p>
        </p:txBody>
      </p:sp>
      <p:sp>
        <p:nvSpPr>
          <p:cNvPr id="6" name="Rectangle 6"/>
          <p:cNvSpPr/>
          <p:nvPr/>
        </p:nvSpPr>
        <p:spPr>
          <a:xfrm>
            <a:off x="476250" y="1095375"/>
            <a:ext cx="5334000" cy="5143500"/>
          </a:xfrm>
          <a:prstGeom prst="roundRect">
            <a:avLst>
              <a:gd name="adj" fmla="val 185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074386" y="1202055"/>
            <a:ext cx="213772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Agent 控制流程</a:t>
            </a:r>
          </a:p>
        </p:txBody>
      </p:sp>
      <p:sp>
        <p:nvSpPr>
          <p:cNvPr id="8" name="Rectangle 8"/>
          <p:cNvSpPr/>
          <p:nvPr/>
        </p:nvSpPr>
        <p:spPr>
          <a:xfrm>
            <a:off x="1714500" y="1666875"/>
            <a:ext cx="2857500" cy="428625"/>
          </a:xfrm>
          <a:prstGeom prst="roundRect">
            <a:avLst>
              <a:gd name="adj" fmla="val 13333"/>
            </a:avLst>
          </a:prstGeom>
          <a:solidFill>
            <a:srgbClr val="1A2332"/>
          </a:solidFill>
          <a:ln w="14288">
            <a:solidFill>
              <a:srgbClr val="58A6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441296" y="1771650"/>
            <a:ext cx="14039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用户输入 Input</a:t>
            </a:r>
          </a:p>
        </p:txBody>
      </p:sp>
      <p:sp>
        <p:nvSpPr>
          <p:cNvPr id="10" name="Line 10"/>
          <p:cNvSpPr/>
          <p:nvPr/>
        </p:nvSpPr>
        <p:spPr>
          <a:xfrm>
            <a:off x="3143250" y="2095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58A6FF"/>
            </a:solidFill>
          </a:ln>
        </p:spPr>
      </p:sp>
      <p:sp>
        <p:nvSpPr>
          <p:cNvPr id="11" name="Polygon 11"/>
          <p:cNvSpPr/>
          <p:nvPr/>
        </p:nvSpPr>
        <p:spPr>
          <a:xfrm>
            <a:off x="3095625" y="22574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714500" y="2381250"/>
            <a:ext cx="2857500" cy="428625"/>
          </a:xfrm>
          <a:prstGeom prst="roundRect">
            <a:avLst>
              <a:gd name="adj" fmla="val 13333"/>
            </a:avLst>
          </a:prstGeom>
          <a:solidFill>
            <a:srgbClr val="1A2332"/>
          </a:solidFill>
          <a:ln w="14288">
            <a:solidFill>
              <a:srgbClr val="58A6F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386536" y="2486025"/>
            <a:ext cx="151342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Intent 意图识别</a:t>
            </a:r>
          </a:p>
        </p:txBody>
      </p:sp>
      <p:sp>
        <p:nvSpPr>
          <p:cNvPr id="14" name="Line 14"/>
          <p:cNvSpPr/>
          <p:nvPr/>
        </p:nvSpPr>
        <p:spPr>
          <a:xfrm>
            <a:off x="3143250" y="280987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58A6FF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3095625" y="29718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714500" y="3095625"/>
            <a:ext cx="2857500" cy="428625"/>
          </a:xfrm>
          <a:prstGeom prst="roundRect">
            <a:avLst>
              <a:gd name="adj" fmla="val 13333"/>
            </a:avLst>
          </a:prstGeom>
          <a:solidFill>
            <a:srgbClr val="1A2332"/>
          </a:solidFill>
          <a:ln w="14288">
            <a:solidFill>
              <a:srgbClr val="58A6F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2301859" y="3200400"/>
            <a:ext cx="16827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任务规划 Planning</a:t>
            </a:r>
          </a:p>
        </p:txBody>
      </p:sp>
      <p:sp>
        <p:nvSpPr>
          <p:cNvPr id="18" name="Line 18"/>
          <p:cNvSpPr/>
          <p:nvPr/>
        </p:nvSpPr>
        <p:spPr>
          <a:xfrm>
            <a:off x="3143250" y="35242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58A6FF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3095625" y="36861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714500" y="3810000"/>
            <a:ext cx="2857500" cy="428625"/>
          </a:xfrm>
          <a:prstGeom prst="roundRect">
            <a:avLst>
              <a:gd name="adj" fmla="val 13333"/>
            </a:avLst>
          </a:prstGeom>
          <a:solidFill>
            <a:srgbClr val="1A2332"/>
          </a:solidFill>
          <a:ln w="14288">
            <a:solidFill>
              <a:srgbClr val="58A6F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495669" y="3914775"/>
            <a:ext cx="129516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Tool 调用执行</a:t>
            </a:r>
          </a:p>
        </p:txBody>
      </p:sp>
      <p:sp>
        <p:nvSpPr>
          <p:cNvPr id="22" name="Line 22"/>
          <p:cNvSpPr/>
          <p:nvPr/>
        </p:nvSpPr>
        <p:spPr>
          <a:xfrm>
            <a:off x="3143250" y="423862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58A6FF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3095625" y="44005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1714500" y="4524375"/>
            <a:ext cx="2857500" cy="428625"/>
          </a:xfrm>
          <a:prstGeom prst="roundRect">
            <a:avLst>
              <a:gd name="adj" fmla="val 13333"/>
            </a:avLst>
          </a:prstGeom>
          <a:solidFill>
            <a:srgbClr val="1A2332"/>
          </a:solidFill>
          <a:ln w="14288">
            <a:solidFill>
              <a:srgbClr val="58A6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2251019" y="4629150"/>
            <a:ext cx="17844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结果融合 Response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50156" y="518826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技术栈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57250" y="5476875"/>
            <a:ext cx="1047750" cy="28575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037511" y="5545931"/>
            <a:ext cx="6872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58A6FF"/>
                </a:solidFill>
                <a:latin typeface="Arial"/>
                <a:ea typeface="Arial"/>
                <a:cs typeface="Arial"/>
              </a:rPr>
              <a:t>DeepSeek</a:t>
            </a:r>
          </a:p>
        </p:txBody>
      </p:sp>
      <p:sp>
        <p:nvSpPr>
          <p:cNvPr id="29" name="Rectangle 29"/>
          <p:cNvSpPr/>
          <p:nvPr/>
        </p:nvSpPr>
        <p:spPr>
          <a:xfrm>
            <a:off x="2047875" y="5476875"/>
            <a:ext cx="1047750" cy="28575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2186488" y="5545931"/>
            <a:ext cx="7705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58A6FF"/>
                </a:solidFill>
                <a:latin typeface="Arial"/>
                <a:ea typeface="Arial"/>
                <a:cs typeface="Arial"/>
              </a:rPr>
              <a:t>LangGraph</a:t>
            </a:r>
          </a:p>
        </p:txBody>
      </p:sp>
      <p:sp>
        <p:nvSpPr>
          <p:cNvPr id="31" name="Rectangle 31"/>
          <p:cNvSpPr/>
          <p:nvPr/>
        </p:nvSpPr>
        <p:spPr>
          <a:xfrm>
            <a:off x="3238500" y="5476875"/>
            <a:ext cx="1238250" cy="28575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434024" y="5545931"/>
            <a:ext cx="8472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58A6FF"/>
                </a:solidFill>
                <a:latin typeface="Arial"/>
                <a:ea typeface="Arial"/>
                <a:cs typeface="Arial"/>
              </a:rPr>
              <a:t>Prompt Eng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16978" y="5918835"/>
            <a:ext cx="3252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LangGraph 状态管理 · Tool 框架 · 闭环控制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096000" y="1095375"/>
            <a:ext cx="5619750" cy="2524125"/>
          </a:xfrm>
          <a:prstGeom prst="roundRect">
            <a:avLst>
              <a:gd name="adj" fmla="val 377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684776" y="1202055"/>
            <a:ext cx="244219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FastAPI 后端服务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334125" y="1619250"/>
            <a:ext cx="5143500" cy="333375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518148" y="1700689"/>
            <a:ext cx="448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POST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37273" y="1700689"/>
            <a:ext cx="4849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0F6FC"/>
                </a:solidFill>
                <a:latin typeface="Consolas"/>
                <a:ea typeface="Consolas"/>
                <a:cs typeface="Consolas"/>
              </a:rPr>
              <a:t>/chat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090154" y="17087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智能对话交互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334125" y="2028825"/>
            <a:ext cx="5143500" cy="333375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6518148" y="2110264"/>
            <a:ext cx="3121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D29922"/>
                </a:solidFill>
                <a:latin typeface="Consolas"/>
                <a:ea typeface="Consolas"/>
                <a:cs typeface="Consolas"/>
              </a:rPr>
              <a:t>GET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94398" y="2110264"/>
            <a:ext cx="5793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0F6FC"/>
                </a:solidFill>
                <a:latin typeface="Consolas"/>
                <a:ea typeface="Consolas"/>
                <a:cs typeface="Consolas"/>
              </a:rPr>
              <a:t>/query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090154" y="21183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数据查询接口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334125" y="2438400"/>
            <a:ext cx="5143500" cy="333375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518148" y="2519839"/>
            <a:ext cx="3121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85149"/>
                </a:solidFill>
                <a:latin typeface="Consolas"/>
                <a:ea typeface="Consolas"/>
                <a:cs typeface="Consolas"/>
              </a:rPr>
              <a:t>GET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94398" y="2519839"/>
            <a:ext cx="7595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0F6FC"/>
                </a:solidFill>
                <a:latin typeface="Consolas"/>
                <a:ea typeface="Consolas"/>
                <a:cs typeface="Consolas"/>
              </a:rPr>
              <a:t>/warning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090154" y="2527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预警信息查询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334125" y="2847975"/>
            <a:ext cx="5143500" cy="333375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518148" y="2929414"/>
            <a:ext cx="3121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BC8CFF"/>
                </a:solidFill>
                <a:latin typeface="Consolas"/>
                <a:ea typeface="Consolas"/>
                <a:cs typeface="Consolas"/>
              </a:rPr>
              <a:t>GET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94398" y="2929414"/>
            <a:ext cx="8711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0F6FC"/>
                </a:solidFill>
                <a:latin typeface="Consolas"/>
                <a:ea typeface="Consolas"/>
                <a:cs typeface="Consolas"/>
              </a:rPr>
              <a:t>/diagnosis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090154" y="2937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故障诊断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334125" y="3257550"/>
            <a:ext cx="5143500" cy="28575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518148" y="3310414"/>
            <a:ext cx="448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POST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137273" y="3310414"/>
            <a:ext cx="67377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0F6FC"/>
                </a:solidFill>
                <a:latin typeface="Consolas"/>
                <a:ea typeface="Consolas"/>
                <a:cs typeface="Consolas"/>
              </a:rPr>
              <a:t>/report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090154" y="3318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报告生成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810000"/>
            <a:ext cx="5619750" cy="2428875"/>
          </a:xfrm>
          <a:prstGeom prst="roundRect">
            <a:avLst>
              <a:gd name="adj" fmla="val 392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8004696" y="391668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系统集成职责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97723" y="4362450"/>
            <a:ext cx="46163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把 B 算法 → Agent | C 页面 → API | D 知识库 → RAG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85710" y="4648200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全部串联，构建完整系统闭环</a:t>
            </a:r>
          </a:p>
        </p:txBody>
      </p:sp>
      <p:sp>
        <p:nvSpPr>
          <p:cNvPr id="60" name="Line 60"/>
          <p:cNvSpPr/>
          <p:nvPr/>
        </p:nvSpPr>
        <p:spPr>
          <a:xfrm>
            <a:off x="6477000" y="5000625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6373368" y="515588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核心交付物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381750" y="5476875"/>
            <a:ext cx="11906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553688" y="5556885"/>
            <a:ext cx="8372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Agent 流程</a:t>
            </a:r>
          </a:p>
        </p:txBody>
      </p:sp>
      <p:sp>
        <p:nvSpPr>
          <p:cNvPr id="64" name="Rectangle 64"/>
          <p:cNvSpPr/>
          <p:nvPr/>
        </p:nvSpPr>
        <p:spPr>
          <a:xfrm>
            <a:off x="7715250" y="5476875"/>
            <a:ext cx="11906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983931" y="5556885"/>
            <a:ext cx="6437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API 接口</a:t>
            </a:r>
          </a:p>
        </p:txBody>
      </p:sp>
      <p:sp>
        <p:nvSpPr>
          <p:cNvPr id="66" name="Rectangle 66"/>
          <p:cNvSpPr/>
          <p:nvPr/>
        </p:nvSpPr>
        <p:spPr>
          <a:xfrm>
            <a:off x="9048750" y="5476875"/>
            <a:ext cx="11906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285065" y="5556885"/>
            <a:ext cx="7084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Tool 框架</a:t>
            </a:r>
          </a:p>
        </p:txBody>
      </p:sp>
      <p:sp>
        <p:nvSpPr>
          <p:cNvPr id="68" name="Rectangle 68"/>
          <p:cNvSpPr/>
          <p:nvPr/>
        </p:nvSpPr>
        <p:spPr>
          <a:xfrm>
            <a:off x="10382250" y="5476875"/>
            <a:ext cx="109537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0534078" y="5556885"/>
            <a:ext cx="7821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系统 Demo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6501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5498" y="136208"/>
            <a:ext cx="66184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主力 B — 工业数据与算法负责人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619125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8133" y="659606"/>
            <a:ext cx="4487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0D1117"/>
                </a:solidFill>
                <a:latin typeface="Arial"/>
                <a:ea typeface="Arial"/>
                <a:cs typeface="Arial"/>
              </a:rPr>
              <a:t>★★★★★</a:t>
            </a:r>
          </a:p>
        </p:txBody>
      </p:sp>
      <p:sp>
        <p:nvSpPr>
          <p:cNvPr id="6" name="Rectangle 6"/>
          <p:cNvSpPr/>
          <p:nvPr/>
        </p:nvSpPr>
        <p:spPr>
          <a:xfrm>
            <a:off x="476250" y="1047750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354066" y="1142048"/>
            <a:ext cx="16736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数据系统建设</a:t>
            </a:r>
          </a:p>
        </p:txBody>
      </p:sp>
      <p:sp>
        <p:nvSpPr>
          <p:cNvPr id="8" name="Rectangle 8"/>
          <p:cNvSpPr/>
          <p:nvPr/>
        </p:nvSpPr>
        <p:spPr>
          <a:xfrm>
            <a:off x="714375" y="1524000"/>
            <a:ext cx="11906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37295" y="1602581"/>
            <a:ext cx="9352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device_table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047875" y="1524000"/>
            <a:ext cx="11906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151864" y="1602581"/>
            <a:ext cx="9731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sensor_table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381375" y="1524000"/>
            <a:ext cx="128587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389114" y="1602581"/>
            <a:ext cx="12608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timeseries_table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810125" y="1524000"/>
            <a:ext cx="952500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45248" y="1602581"/>
            <a:ext cx="8822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alarm_table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9364" y="2025968"/>
            <a:ext cx="31430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PostgreSQL + TimescaleDB 时序存储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047750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888681" y="1142048"/>
            <a:ext cx="222488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电厂模拟数据生成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524625" y="1524000"/>
            <a:ext cx="11906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662690" y="1602581"/>
            <a:ext cx="9049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D29922"/>
                </a:solidFill>
                <a:latin typeface="Consolas"/>
                <a:ea typeface="Consolas"/>
                <a:cs typeface="Consolas"/>
              </a:rPr>
              <a:t>steam_temp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89254" y="177927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温度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858125" y="1524000"/>
            <a:ext cx="11906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109776" y="1602581"/>
            <a:ext cx="67779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D29922"/>
                </a:solidFill>
                <a:latin typeface="Consolas"/>
                <a:ea typeface="Consolas"/>
                <a:cs typeface="Consolas"/>
              </a:rPr>
              <a:t>pressure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22754" y="177927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压力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191625" y="1524000"/>
            <a:ext cx="11906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439489" y="1602581"/>
            <a:ext cx="6853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D29922"/>
                </a:solidFill>
                <a:latin typeface="Consolas"/>
                <a:ea typeface="Consolas"/>
                <a:cs typeface="Consolas"/>
              </a:rPr>
              <a:t>vibration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56254" y="177927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振动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94847" y="2025968"/>
            <a:ext cx="26125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正常状态 · 异常状态 · 工况变化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76250" y="2619375"/>
            <a:ext cx="5429250" cy="190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2629700" y="274224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85149"/>
                </a:solidFill>
                <a:latin typeface="Arial"/>
                <a:ea typeface="Microsoft YaHei"/>
                <a:cs typeface="Arial"/>
              </a:rPr>
              <a:t>预警算法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14375" y="3143250"/>
            <a:ext cx="5000625" cy="26670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98779" y="3204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85149"/>
                </a:solidFill>
                <a:latin typeface="Consolas"/>
                <a:ea typeface="Microsoft YaHei"/>
                <a:cs typeface="Consolas"/>
              </a:rPr>
              <a:t>阈值异常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85035" y="3212306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规则匹配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47060" y="32204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超限即时告警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14375" y="3476625"/>
            <a:ext cx="5000625" cy="26670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98779" y="3537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29922"/>
                </a:solidFill>
                <a:latin typeface="Consolas"/>
                <a:ea typeface="Microsoft YaHei"/>
                <a:cs typeface="Consolas"/>
              </a:rPr>
              <a:t>趋势异常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85035" y="3545681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变化率检测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47060" y="35537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斜率超速预警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14375" y="3810000"/>
            <a:ext cx="5000625" cy="26670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98779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8A6FF"/>
                </a:solidFill>
                <a:latin typeface="Consolas"/>
                <a:ea typeface="Microsoft YaHei"/>
                <a:cs typeface="Consolas"/>
              </a:rPr>
              <a:t>波动异常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185035" y="3879056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窗口统计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147060" y="38871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方差偏离分析</a:t>
            </a:r>
          </a:p>
        </p:txBody>
      </p:sp>
      <p:sp>
        <p:nvSpPr>
          <p:cNvPr id="43" name="Rectangle 43"/>
          <p:cNvSpPr/>
          <p:nvPr/>
        </p:nvSpPr>
        <p:spPr>
          <a:xfrm>
            <a:off x="714375" y="4143375"/>
            <a:ext cx="5000625" cy="26670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98779" y="4204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FB950"/>
                </a:solidFill>
                <a:latin typeface="Consolas"/>
                <a:ea typeface="Microsoft YaHei"/>
                <a:cs typeface="Consolas"/>
              </a:rPr>
              <a:t>残差异常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185035" y="4212431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预测误差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91574" y="4220528"/>
            <a:ext cx="10142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实际vs预测偏差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286500" y="2619375"/>
            <a:ext cx="5429250" cy="190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026498" y="27422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预测与模型优化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000875" y="3190875"/>
            <a:ext cx="1714500" cy="361950"/>
          </a:xfrm>
          <a:prstGeom prst="roundRect">
            <a:avLst>
              <a:gd name="adj" fmla="val 13158"/>
            </a:avLst>
          </a:prstGeom>
          <a:solidFill>
            <a:srgbClr val="0D1117"/>
          </a:solidFill>
          <a:ln w="14288">
            <a:solidFill>
              <a:srgbClr val="BC8CFF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508367" y="3281839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历史数据</a:t>
            </a:r>
          </a:p>
        </p:txBody>
      </p:sp>
      <p:sp>
        <p:nvSpPr>
          <p:cNvPr id="51" name="Line 51"/>
          <p:cNvSpPr/>
          <p:nvPr/>
        </p:nvSpPr>
        <p:spPr>
          <a:xfrm>
            <a:off x="8715375" y="337185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8B949E"/>
            </a:solidFill>
          </a:ln>
        </p:spPr>
      </p:sp>
      <p:sp>
        <p:nvSpPr>
          <p:cNvPr id="52" name="Polygon 52"/>
          <p:cNvSpPr/>
          <p:nvPr/>
        </p:nvSpPr>
        <p:spPr>
          <a:xfrm>
            <a:off x="8972550" y="3343275"/>
            <a:ext cx="76200" cy="57150"/>
          </a:xfrm>
          <a:custGeom>
            <a:avLst/>
            <a:gdLst/>
            <a:ahLst/>
            <a:cxnLst/>
            <a:rect l="l" t="t" r="r" b="b"/>
            <a:pathLst>
              <a:path w="76200" h="57150">
                <a:moveTo>
                  <a:pt x="0" y="0"/>
                </a:moveTo>
                <a:lnTo>
                  <a:pt x="76200" y="28575"/>
                </a:lnTo>
                <a:lnTo>
                  <a:pt x="0" y="57150"/>
                </a:lnTo>
                <a:close/>
              </a:path>
            </a:pathLst>
          </a:custGeom>
          <a:solidFill>
            <a:srgbClr val="8B949E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9048750" y="3190875"/>
            <a:ext cx="2000250" cy="361950"/>
          </a:xfrm>
          <a:prstGeom prst="roundRect">
            <a:avLst>
              <a:gd name="adj" fmla="val 13158"/>
            </a:avLst>
          </a:prstGeom>
          <a:solidFill>
            <a:srgbClr val="0D1117"/>
          </a:solidFill>
          <a:ln w="14288">
            <a:solidFill>
              <a:srgbClr val="BC8CFF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9390988" y="3281839"/>
            <a:ext cx="131577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Prophet / LSTM</a:t>
            </a:r>
          </a:p>
        </p:txBody>
      </p:sp>
      <p:sp>
        <p:nvSpPr>
          <p:cNvPr id="55" name="Line 55"/>
          <p:cNvSpPr/>
          <p:nvPr/>
        </p:nvSpPr>
        <p:spPr>
          <a:xfrm>
            <a:off x="10048875" y="355282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4288">
            <a:solidFill>
              <a:srgbClr val="8B949E"/>
            </a:solidFill>
          </a:ln>
        </p:spPr>
      </p:sp>
      <p:sp>
        <p:nvSpPr>
          <p:cNvPr id="56" name="Polygon 56"/>
          <p:cNvSpPr/>
          <p:nvPr/>
        </p:nvSpPr>
        <p:spPr>
          <a:xfrm>
            <a:off x="10010775" y="3714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8B949E"/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9048750" y="3790950"/>
            <a:ext cx="2000250" cy="361950"/>
          </a:xfrm>
          <a:prstGeom prst="roundRect">
            <a:avLst>
              <a:gd name="adj" fmla="val 13158"/>
            </a:avLst>
          </a:prstGeom>
          <a:solidFill>
            <a:srgbClr val="0D1117"/>
          </a:solidFill>
          <a:ln w="14288">
            <a:solidFill>
              <a:srgbClr val="BC8CFF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9527477" y="38819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未来趋势预测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851267" y="42357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模型自适应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852029" y="4461510"/>
            <a:ext cx="28311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工况识别 → 选择数据 → 重新训练 → 更新</a:t>
            </a:r>
          </a:p>
        </p:txBody>
      </p:sp>
      <p:sp>
        <p:nvSpPr>
          <p:cNvPr id="61" name="Rectangle 61"/>
          <p:cNvSpPr/>
          <p:nvPr/>
        </p:nvSpPr>
        <p:spPr>
          <a:xfrm>
            <a:off x="476250" y="4762500"/>
            <a:ext cx="11239500" cy="714375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2545652" y="4901565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核心交付物</a:t>
            </a:r>
          </a:p>
        </p:txBody>
      </p:sp>
      <p:sp>
        <p:nvSpPr>
          <p:cNvPr id="63" name="Rectangle 63"/>
          <p:cNvSpPr/>
          <p:nvPr/>
        </p:nvSpPr>
        <p:spPr>
          <a:xfrm>
            <a:off x="476250" y="5286375"/>
            <a:ext cx="13811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3FB950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913638" y="53568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数据库</a:t>
            </a:r>
          </a:p>
        </p:txBody>
      </p:sp>
      <p:sp>
        <p:nvSpPr>
          <p:cNvPr id="65" name="Rectangle 65"/>
          <p:cNvSpPr/>
          <p:nvPr/>
        </p:nvSpPr>
        <p:spPr>
          <a:xfrm>
            <a:off x="2000250" y="5286375"/>
            <a:ext cx="13811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3FB950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2356866" y="53568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数据接口</a:t>
            </a:r>
          </a:p>
        </p:txBody>
      </p:sp>
      <p:sp>
        <p:nvSpPr>
          <p:cNvPr id="67" name="Rectangle 67"/>
          <p:cNvSpPr/>
          <p:nvPr/>
        </p:nvSpPr>
        <p:spPr>
          <a:xfrm>
            <a:off x="3524250" y="5286375"/>
            <a:ext cx="13811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F85149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3880866" y="53568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85149"/>
                </a:solidFill>
                <a:latin typeface="Arial"/>
                <a:ea typeface="Microsoft YaHei"/>
                <a:cs typeface="Arial"/>
              </a:rPr>
              <a:t>预警算法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048250" y="5286375"/>
            <a:ext cx="138112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BC8CFF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5404866" y="53568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预测模型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572250" y="5286375"/>
            <a:ext cx="147637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D29922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6775323" y="5356860"/>
            <a:ext cx="1060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模型优化Demo</a:t>
            </a:r>
          </a:p>
        </p:txBody>
      </p:sp>
      <p:sp>
        <p:nvSpPr>
          <p:cNvPr id="73" name="Rectangle 73"/>
          <p:cNvSpPr/>
          <p:nvPr/>
        </p:nvSpPr>
        <p:spPr>
          <a:xfrm>
            <a:off x="8477250" y="5619750"/>
            <a:ext cx="3238500" cy="809625"/>
          </a:xfrm>
          <a:prstGeom prst="roundRect">
            <a:avLst>
              <a:gd name="adj" fmla="val 9412"/>
            </a:avLst>
          </a:prstGeom>
          <a:solidFill>
            <a:srgbClr val="0D1117"/>
          </a:solidFill>
          <a:ln w="14288">
            <a:solidFill>
              <a:srgbClr val="30363D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9444228" y="5728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风险评分输出示例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738354" y="5986939"/>
            <a:ext cx="271629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{"risk": 0.85, "alarm": "high"}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6501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5498" y="136208"/>
            <a:ext cx="567751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主力 C — 前端与产品负责人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619125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BC8C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71863" y="659606"/>
            <a:ext cx="3612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0D1117"/>
                </a:solidFill>
                <a:latin typeface="Arial"/>
                <a:ea typeface="Arial"/>
                <a:cs typeface="Arial"/>
              </a:rPr>
              <a:t>★★★★</a:t>
            </a:r>
          </a:p>
        </p:txBody>
      </p:sp>
      <p:sp>
        <p:nvSpPr>
          <p:cNvPr id="6" name="Rectangle 6"/>
          <p:cNvSpPr/>
          <p:nvPr/>
        </p:nvSpPr>
        <p:spPr>
          <a:xfrm>
            <a:off x="476250" y="1047750"/>
            <a:ext cx="4095750" cy="5143500"/>
          </a:xfrm>
          <a:prstGeom prst="roundRect">
            <a:avLst>
              <a:gd name="adj" fmla="val 232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650651" y="1199198"/>
            <a:ext cx="17469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Web 监控平台</a:t>
            </a:r>
          </a:p>
        </p:txBody>
      </p:sp>
      <p:sp>
        <p:nvSpPr>
          <p:cNvPr id="8" name="Rectangle 8"/>
          <p:cNvSpPr/>
          <p:nvPr/>
        </p:nvSpPr>
        <p:spPr>
          <a:xfrm>
            <a:off x="714375" y="1600200"/>
            <a:ext cx="166687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BC8C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7974" y="1662589"/>
            <a:ext cx="45015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Vue 3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524125" y="1600200"/>
            <a:ext cx="1666875" cy="304800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9525">
            <a:solidFill>
              <a:srgbClr val="BC8C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010572" y="1662589"/>
            <a:ext cx="6844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ECharts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92452" y="20288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页面结构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238250" y="2381250"/>
            <a:ext cx="2571750" cy="323850"/>
          </a:xfrm>
          <a:prstGeom prst="roundRect">
            <a:avLst>
              <a:gd name="adj" fmla="val 17647"/>
            </a:avLst>
          </a:prstGeom>
          <a:solidFill>
            <a:srgbClr val="1A1A2A"/>
          </a:solidFill>
          <a:ln w="14288">
            <a:solidFill>
              <a:srgbClr val="BC8CF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064639" y="2454592"/>
            <a:ext cx="91897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5" name="Line 15"/>
          <p:cNvSpPr/>
          <p:nvPr/>
        </p:nvSpPr>
        <p:spPr>
          <a:xfrm>
            <a:off x="2524125" y="270510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952500" y="2876550"/>
            <a:ext cx="1476375" cy="28575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268159" y="2945606"/>
            <a:ext cx="83553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AI 助手窗口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571750" y="2876550"/>
            <a:ext cx="1476375" cy="28575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96565" y="2945606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实时监控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52500" y="3238500"/>
            <a:ext cx="1476375" cy="28575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377315" y="3307556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趋势分析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571750" y="3238500"/>
            <a:ext cx="1476375" cy="28575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996565" y="3307556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85149"/>
                </a:solidFill>
                <a:latin typeface="Arial"/>
                <a:ea typeface="Microsoft YaHei"/>
                <a:cs typeface="Arial"/>
              </a:rPr>
              <a:t>报警中心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52500" y="3600450"/>
            <a:ext cx="1476375" cy="28575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377315" y="3669506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故障诊断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571750" y="3600450"/>
            <a:ext cx="1476375" cy="28575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2996565" y="3669506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历史统计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762125" y="3962400"/>
            <a:ext cx="1524000" cy="28575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366962" y="4031456"/>
            <a:ext cx="3143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日志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44795" y="44738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状态颜色规范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4762500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232154" y="47758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正常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809750" y="4762500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D2992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089404" y="47758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619375" y="4762500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F8514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899029" y="47758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85149"/>
                </a:solidFill>
                <a:latin typeface="Arial"/>
                <a:ea typeface="Microsoft YaHei"/>
                <a:cs typeface="Arial"/>
              </a:rPr>
              <a:t>故障</a:t>
            </a:r>
          </a:p>
        </p:txBody>
      </p:sp>
      <p:sp>
        <p:nvSpPr>
          <p:cNvPr id="37" name="Line 37"/>
          <p:cNvSpPr/>
          <p:nvPr/>
        </p:nvSpPr>
        <p:spPr>
          <a:xfrm>
            <a:off x="3333750" y="5048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38" name="Line 38"/>
          <p:cNvSpPr/>
          <p:nvPr/>
        </p:nvSpPr>
        <p:spPr>
          <a:xfrm>
            <a:off x="3333750" y="5238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9525">
            <a:solidFill>
              <a:srgbClr val="30363D"/>
            </a:solidFill>
            <a:custDash>
              <a:ds d="400000" sp="300000"/>
            </a:custDash>
          </a:ln>
        </p:spPr>
      </p:sp>
      <p:sp>
        <p:nvSpPr>
          <p:cNvPr id="39" name="TextBox 39"/>
          <p:cNvSpPr txBox="1"/>
          <p:nvPr/>
        </p:nvSpPr>
        <p:spPr>
          <a:xfrm>
            <a:off x="4471416" y="5173028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实际</a:t>
            </a:r>
          </a:p>
        </p:txBody>
      </p:sp>
      <p:sp>
        <p:nvSpPr>
          <p:cNvPr id="40" name="Line 40"/>
          <p:cNvSpPr/>
          <p:nvPr/>
        </p:nvSpPr>
        <p:spPr>
          <a:xfrm>
            <a:off x="3333750" y="5381625"/>
            <a:ext cx="952500" cy="47625"/>
          </a:xfrm>
          <a:custGeom>
            <a:avLst/>
            <a:gdLst/>
            <a:ahLst/>
            <a:cxnLst/>
            <a:rect l="l" t="t" r="r" b="b"/>
            <a:pathLst>
              <a:path w="952500" h="47625">
                <a:moveTo>
                  <a:pt x="0" y="47625"/>
                </a:moveTo>
                <a:lnTo>
                  <a:pt x="952500" y="0"/>
                </a:lnTo>
              </a:path>
            </a:pathLst>
          </a:custGeom>
          <a:noFill/>
          <a:ln w="9525">
            <a:solidFill>
              <a:srgbClr val="30363D"/>
            </a:solidFill>
            <a:prstDash val="sysDot"/>
          </a:ln>
        </p:spPr>
      </p:sp>
      <p:sp>
        <p:nvSpPr>
          <p:cNvPr id="41" name="TextBox 41"/>
          <p:cNvSpPr txBox="1"/>
          <p:nvPr/>
        </p:nvSpPr>
        <p:spPr>
          <a:xfrm>
            <a:off x="4471416" y="53349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预测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857750" y="1047750"/>
            <a:ext cx="3333750" cy="2476500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578277" y="1199198"/>
            <a:ext cx="189269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Demo 交互流程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524500" y="1666875"/>
            <a:ext cx="2000250" cy="361950"/>
          </a:xfrm>
          <a:prstGeom prst="roundRect">
            <a:avLst>
              <a:gd name="adj" fmla="val 50000"/>
            </a:avLst>
          </a:prstGeom>
          <a:solidFill>
            <a:srgbClr val="1A1A2A"/>
          </a:solidFill>
          <a:ln w="14288">
            <a:solidFill>
              <a:srgbClr val="BC8CFF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154293" y="1759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输入问题</a:t>
            </a:r>
          </a:p>
        </p:txBody>
      </p:sp>
      <p:sp>
        <p:nvSpPr>
          <p:cNvPr id="46" name="Line 46"/>
          <p:cNvSpPr/>
          <p:nvPr/>
        </p:nvSpPr>
        <p:spPr>
          <a:xfrm>
            <a:off x="6524625" y="202882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BC8CFF"/>
            </a:solidFill>
          </a:ln>
        </p:spPr>
      </p:sp>
      <p:sp>
        <p:nvSpPr>
          <p:cNvPr id="47" name="Polygon 47"/>
          <p:cNvSpPr/>
          <p:nvPr/>
        </p:nvSpPr>
        <p:spPr>
          <a:xfrm>
            <a:off x="6477000" y="2190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BC8CFF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5524500" y="2314575"/>
            <a:ext cx="2000250" cy="361950"/>
          </a:xfrm>
          <a:prstGeom prst="roundRect">
            <a:avLst>
              <a:gd name="adj" fmla="val 50000"/>
            </a:avLst>
          </a:prstGeom>
          <a:solidFill>
            <a:srgbClr val="1A1A2A"/>
          </a:solidFill>
          <a:ln w="14288">
            <a:solidFill>
              <a:srgbClr val="BC8CFF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154293" y="24069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查看趋势</a:t>
            </a:r>
          </a:p>
        </p:txBody>
      </p:sp>
      <p:sp>
        <p:nvSpPr>
          <p:cNvPr id="50" name="Line 50"/>
          <p:cNvSpPr/>
          <p:nvPr/>
        </p:nvSpPr>
        <p:spPr>
          <a:xfrm>
            <a:off x="6524625" y="267652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BC8CFF"/>
            </a:solidFill>
          </a:ln>
        </p:spPr>
      </p:sp>
      <p:sp>
        <p:nvSpPr>
          <p:cNvPr id="51" name="Polygon 51"/>
          <p:cNvSpPr/>
          <p:nvPr/>
        </p:nvSpPr>
        <p:spPr>
          <a:xfrm>
            <a:off x="6477000" y="28384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BC8CFF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5524500" y="2962275"/>
            <a:ext cx="2000250" cy="361950"/>
          </a:xfrm>
          <a:prstGeom prst="roundRect">
            <a:avLst>
              <a:gd name="adj" fmla="val 50000"/>
            </a:avLst>
          </a:prstGeom>
          <a:solidFill>
            <a:srgbClr val="1A1A2A"/>
          </a:solidFill>
          <a:ln w="14288">
            <a:solidFill>
              <a:srgbClr val="BC8CF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154293" y="30546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查看报警</a:t>
            </a:r>
          </a:p>
        </p:txBody>
      </p:sp>
      <p:sp>
        <p:nvSpPr>
          <p:cNvPr id="54" name="Rectangle 54"/>
          <p:cNvSpPr/>
          <p:nvPr/>
        </p:nvSpPr>
        <p:spPr>
          <a:xfrm>
            <a:off x="4857750" y="3762375"/>
            <a:ext cx="3333750" cy="2428875"/>
          </a:xfrm>
          <a:prstGeom prst="roundRect">
            <a:avLst>
              <a:gd name="adj" fmla="val 392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825633" y="38852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数据可视化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095875" y="4286250"/>
            <a:ext cx="2857500" cy="76200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57" name="Polyline 57"/>
          <p:cNvSpPr/>
          <p:nvPr/>
        </p:nvSpPr>
        <p:spPr>
          <a:xfrm>
            <a:off x="5143500" y="4381500"/>
            <a:ext cx="2667000" cy="476250"/>
          </a:xfrm>
          <a:custGeom>
            <a:avLst/>
            <a:gdLst/>
            <a:ahLst/>
            <a:cxnLst/>
            <a:rect l="l" t="t" r="r" b="b"/>
            <a:pathLst>
              <a:path w="2667000" h="476250">
                <a:moveTo>
                  <a:pt x="0" y="476250"/>
                </a:moveTo>
                <a:lnTo>
                  <a:pt x="381000" y="381000"/>
                </a:lnTo>
                <a:lnTo>
                  <a:pt x="762000" y="428625"/>
                </a:lnTo>
                <a:lnTo>
                  <a:pt x="1143000" y="285750"/>
                </a:lnTo>
                <a:lnTo>
                  <a:pt x="1524000" y="333375"/>
                </a:lnTo>
                <a:lnTo>
                  <a:pt x="1905000" y="95250"/>
                </a:lnTo>
                <a:lnTo>
                  <a:pt x="2286000" y="190500"/>
                </a:lnTo>
                <a:lnTo>
                  <a:pt x="2667000" y="0"/>
                </a:lnTo>
              </a:path>
            </a:pathLst>
          </a:custGeom>
          <a:noFill/>
          <a:ln w="19050">
            <a:solidFill>
              <a:srgbClr val="58A6FF"/>
            </a:solidFill>
          </a:ln>
        </p:spPr>
      </p:sp>
      <p:sp>
        <p:nvSpPr>
          <p:cNvPr id="58" name="Ellipse 58"/>
          <p:cNvSpPr/>
          <p:nvPr/>
        </p:nvSpPr>
        <p:spPr>
          <a:xfrm>
            <a:off x="7010400" y="4438650"/>
            <a:ext cx="76200" cy="76200"/>
          </a:xfrm>
          <a:prstGeom prst="ellipse">
            <a:avLst/>
          </a:prstGeom>
          <a:solidFill>
            <a:srgbClr val="F85149"/>
          </a:solidFill>
          <a:ln w="9525">
            <a:solidFill>
              <a:srgbClr val="F85149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5710238" y="47605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温度趋势示例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095875" y="5191125"/>
            <a:ext cx="2857500" cy="5715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6277546" y="540829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报警统计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477250" y="1047750"/>
            <a:ext cx="3238500" cy="5143500"/>
          </a:xfrm>
          <a:prstGeom prst="roundRect">
            <a:avLst>
              <a:gd name="adj" fmla="val 294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397508" y="119919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核心交付物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715375" y="1714500"/>
            <a:ext cx="276225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14288">
            <a:solidFill>
              <a:srgbClr val="BC8CFF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585960" y="1743075"/>
            <a:ext cx="10210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596438" y="19821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完整监控仪表盘</a:t>
            </a:r>
          </a:p>
        </p:txBody>
      </p:sp>
      <p:sp>
        <p:nvSpPr>
          <p:cNvPr id="67" name="Rectangle 67"/>
          <p:cNvSpPr/>
          <p:nvPr/>
        </p:nvSpPr>
        <p:spPr>
          <a:xfrm>
            <a:off x="8715375" y="2333625"/>
            <a:ext cx="276225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14288">
            <a:solidFill>
              <a:srgbClr val="58A6FF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9685020" y="23622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图表组件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363208" y="2601278"/>
            <a:ext cx="14665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趋势 · 报警 · 预测图表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715375" y="2952750"/>
            <a:ext cx="276225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14288">
            <a:solidFill>
              <a:srgbClr val="D29922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694164" y="2981325"/>
            <a:ext cx="8046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API 对接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525762" y="32204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前端后端数据联通</a:t>
            </a:r>
          </a:p>
        </p:txBody>
      </p:sp>
      <p:sp>
        <p:nvSpPr>
          <p:cNvPr id="73" name="Rectangle 73"/>
          <p:cNvSpPr/>
          <p:nvPr/>
        </p:nvSpPr>
        <p:spPr>
          <a:xfrm>
            <a:off x="8715375" y="3571875"/>
            <a:ext cx="276225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14288">
            <a:solidFill>
              <a:srgbClr val="3FB950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9402842" y="3600450"/>
            <a:ext cx="13873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Demo 展示效果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455086" y="3839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评委看到的工业软件</a:t>
            </a:r>
          </a:p>
        </p:txBody>
      </p:sp>
      <p:sp>
        <p:nvSpPr>
          <p:cNvPr id="76" name="Rectangle 76"/>
          <p:cNvSpPr/>
          <p:nvPr/>
        </p:nvSpPr>
        <p:spPr>
          <a:xfrm>
            <a:off x="8715375" y="4381500"/>
            <a:ext cx="2762250" cy="666750"/>
          </a:xfrm>
          <a:prstGeom prst="roundRect">
            <a:avLst>
              <a:gd name="adj" fmla="val 11429"/>
            </a:avLst>
          </a:prstGeom>
          <a:solidFill>
            <a:srgbClr val="1A1A2A"/>
          </a:solidFill>
          <a:ln w="14288">
            <a:solidFill>
              <a:srgbClr val="D29922"/>
            </a:solidFill>
            <a:prstDash val="dash"/>
          </a:ln>
        </p:spPr>
      </p:sp>
      <p:sp>
        <p:nvSpPr>
          <p:cNvPr id="77" name="TextBox 77"/>
          <p:cNvSpPr txBox="1"/>
          <p:nvPr/>
        </p:nvSpPr>
        <p:spPr>
          <a:xfrm>
            <a:off x="9898818" y="45024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525000" y="47758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让评委看到一个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525000" y="49187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完整的工业软件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6501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5498" y="136208"/>
            <a:ext cx="708888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辅助 D — 知识库与测试交付负责人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619125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D299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15594" y="659606"/>
            <a:ext cx="27381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0D1117"/>
                </a:solidFill>
                <a:latin typeface="Arial"/>
                <a:ea typeface="Arial"/>
                <a:cs typeface="Arial"/>
              </a:rPr>
              <a:t>★★★</a:t>
            </a:r>
          </a:p>
        </p:txBody>
      </p:sp>
      <p:sp>
        <p:nvSpPr>
          <p:cNvPr id="6" name="Rectangle 6"/>
          <p:cNvSpPr/>
          <p:nvPr/>
        </p:nvSpPr>
        <p:spPr>
          <a:xfrm>
            <a:off x="476250" y="1047750"/>
            <a:ext cx="3619500" cy="2476500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640776" y="1186815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知识库建设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7898" y="155781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资料收集来源</a:t>
            </a:r>
          </a:p>
        </p:txBody>
      </p:sp>
      <p:sp>
        <p:nvSpPr>
          <p:cNvPr id="9" name="Rectangle 9"/>
          <p:cNvSpPr/>
          <p:nvPr/>
        </p:nvSpPr>
        <p:spPr>
          <a:xfrm>
            <a:off x="714375" y="1809750"/>
            <a:ext cx="952500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91908" y="18664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电厂运行规程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762125" y="1809750"/>
            <a:ext cx="809625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894713" y="186642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故障案例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667000" y="1809750"/>
            <a:ext cx="809625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799588" y="186642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设备说明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7898" y="21483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知识库目录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2428875"/>
            <a:ext cx="1143000" cy="26670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9525">
            <a:solidFill>
              <a:srgbClr val="D2992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33485" y="2496502"/>
            <a:ext cx="7810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D29922"/>
                </a:solidFill>
                <a:latin typeface="Consolas"/>
                <a:ea typeface="Consolas"/>
                <a:cs typeface="Consolas"/>
              </a:rPr>
              <a:t>knowledge/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143000" y="2781300"/>
            <a:ext cx="857250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346821" y="2847499"/>
            <a:ext cx="4496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boiler/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095500" y="2781300"/>
            <a:ext cx="857250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246819" y="2847499"/>
            <a:ext cx="5546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turbine/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048000" y="2781300"/>
            <a:ext cx="857250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110722" y="2847499"/>
            <a:ext cx="73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generator/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381500" y="1047750"/>
            <a:ext cx="3619500" cy="2476500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82326" y="1186815"/>
            <a:ext cx="16178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RAG 数据管线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0" y="1666875"/>
            <a:ext cx="2476500" cy="361950"/>
          </a:xfrm>
          <a:prstGeom prst="roundRect">
            <a:avLst>
              <a:gd name="adj" fmla="val 15789"/>
            </a:avLst>
          </a:prstGeom>
          <a:solidFill>
            <a:srgbClr val="0D1117"/>
          </a:solidFill>
          <a:ln w="14288">
            <a:solidFill>
              <a:srgbClr val="58A6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534682" y="175926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文档整理 · 分割</a:t>
            </a:r>
          </a:p>
        </p:txBody>
      </p:sp>
      <p:sp>
        <p:nvSpPr>
          <p:cNvPr id="28" name="Line 28"/>
          <p:cNvSpPr/>
          <p:nvPr/>
        </p:nvSpPr>
        <p:spPr>
          <a:xfrm>
            <a:off x="6191250" y="202882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58A6FF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6143625" y="2190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953000" y="2314575"/>
            <a:ext cx="2476500" cy="361950"/>
          </a:xfrm>
          <a:prstGeom prst="roundRect">
            <a:avLst>
              <a:gd name="adj" fmla="val 15789"/>
            </a:avLst>
          </a:prstGeom>
          <a:solidFill>
            <a:srgbClr val="0D1117"/>
          </a:solidFill>
          <a:ln w="14288">
            <a:solidFill>
              <a:srgbClr val="58A6F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594143" y="2406968"/>
            <a:ext cx="11942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切片 Chunking</a:t>
            </a:r>
          </a:p>
        </p:txBody>
      </p:sp>
      <p:sp>
        <p:nvSpPr>
          <p:cNvPr id="32" name="Line 32"/>
          <p:cNvSpPr/>
          <p:nvPr/>
        </p:nvSpPr>
        <p:spPr>
          <a:xfrm>
            <a:off x="6191250" y="267652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58A6FF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6143625" y="28384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4953000" y="2962275"/>
            <a:ext cx="2476500" cy="361950"/>
          </a:xfrm>
          <a:prstGeom prst="roundRect">
            <a:avLst>
              <a:gd name="adj" fmla="val 15789"/>
            </a:avLst>
          </a:prstGeom>
          <a:solidFill>
            <a:srgbClr val="0D1117"/>
          </a:solidFill>
          <a:ln w="14288">
            <a:solidFill>
              <a:srgbClr val="58A6FF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434584" y="3054668"/>
            <a:ext cx="15133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Embedding 向量化</a:t>
            </a:r>
          </a:p>
        </p:txBody>
      </p:sp>
      <p:sp>
        <p:nvSpPr>
          <p:cNvPr id="36" name="Line 36"/>
          <p:cNvSpPr/>
          <p:nvPr/>
        </p:nvSpPr>
        <p:spPr>
          <a:xfrm>
            <a:off x="6191250" y="332422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58A6FF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6143625" y="34861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4953000" y="3333750"/>
            <a:ext cx="2476500" cy="361950"/>
          </a:xfrm>
          <a:prstGeom prst="roundRect">
            <a:avLst>
              <a:gd name="adj" fmla="val 15789"/>
            </a:avLst>
          </a:prstGeom>
          <a:solidFill>
            <a:srgbClr val="0D1117"/>
          </a:solidFill>
          <a:ln w="19050">
            <a:solidFill>
              <a:srgbClr val="3FB95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531510" y="3426142"/>
            <a:ext cx="131947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FAISS 向量检索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425897" y="3775710"/>
            <a:ext cx="1530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58A6FF"/>
                </a:solidFill>
                <a:latin typeface="Consolas"/>
                <a:ea typeface="Consolas"/>
                <a:cs typeface="Consolas"/>
              </a:rPr>
              <a:t>diagnosis_search()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18208" y="3982402"/>
            <a:ext cx="17460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提供接口给 A · Agent 调用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286750" y="1047750"/>
            <a:ext cx="3429000" cy="2476500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483242" y="11868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85149"/>
                </a:solidFill>
                <a:latin typeface="Arial"/>
                <a:ea typeface="Microsoft YaHei"/>
                <a:cs typeface="Arial"/>
              </a:rPr>
              <a:t>测试验证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524875" y="1619250"/>
            <a:ext cx="2952750" cy="47625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661654" y="1699260"/>
            <a:ext cx="1371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85149"/>
                </a:solidFill>
                <a:latin typeface="Arial"/>
                <a:ea typeface="Microsoft YaHei"/>
                <a:cs typeface="Arial"/>
              </a:rPr>
              <a:t>Case 1: 温度异常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62416" y="1905952"/>
            <a:ext cx="30214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输入: 分析2号机组温度 | 验证: 检测异常 + 建议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524875" y="2190750"/>
            <a:ext cx="2952750" cy="47625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661654" y="2270760"/>
            <a:ext cx="1371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Case 2: 振动异常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62416" y="247745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验证: 振动频率分析 + 故障定位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524875" y="2762250"/>
            <a:ext cx="2952750" cy="47625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661654" y="2842260"/>
            <a:ext cx="1371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Case 3: 压力下降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662416" y="304895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验证: 压力趋势 + 根因诊断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76250" y="3810000"/>
            <a:ext cx="11239500" cy="133350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259191" y="3980498"/>
            <a:ext cx="16736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比赛材料交付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62000" y="4429125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14288">
            <a:solidFill>
              <a:srgbClr val="D29922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1571244" y="4486275"/>
            <a:ext cx="8580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PPT 整理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601533" y="4714399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项目演示文稿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429000" y="4429125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14288">
            <a:solidFill>
              <a:srgbClr val="D29922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4255770" y="44862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项目文档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268534" y="4714399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技术说明文档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096000" y="4429125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14288">
            <a:solidFill>
              <a:srgbClr val="D29922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6922770" y="44862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演示脚本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883372" y="4714399"/>
            <a:ext cx="9017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Demo 操作流程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763000" y="4429125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14288">
            <a:solidFill>
              <a:srgbClr val="D29922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589770" y="44862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视频录制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602534" y="4714399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系统演示视频</a:t>
            </a:r>
          </a:p>
        </p:txBody>
      </p:sp>
      <p:sp>
        <p:nvSpPr>
          <p:cNvPr id="67" name="Rectangle 67"/>
          <p:cNvSpPr/>
          <p:nvPr/>
        </p:nvSpPr>
        <p:spPr>
          <a:xfrm>
            <a:off x="476250" y="5334000"/>
            <a:ext cx="11239500" cy="523875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3114408" y="5410200"/>
            <a:ext cx="59631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核心交付物 · RAG 知识库 · 测试案例 · 比赛材料 · 项目文档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170045" y="5641181"/>
            <a:ext cx="38519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D 的角色贯穿数据工程、AI 增强、质量保障和最终交付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6501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517415" y="136208"/>
            <a:ext cx="515717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8 周开发计划 — Week 0~4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09542" y="583882"/>
            <a:ext cx="3372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基础建设与 MVP · 智能能力构建</a:t>
            </a:r>
          </a:p>
        </p:txBody>
      </p:sp>
      <p:sp>
        <p:nvSpPr>
          <p:cNvPr id="5" name="Line 5"/>
          <p:cNvSpPr/>
          <p:nvPr/>
        </p:nvSpPr>
        <p:spPr>
          <a:xfrm>
            <a:off x="3238500" y="9144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476250" y="1095375"/>
            <a:ext cx="11239500" cy="523875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76250" y="1095375"/>
            <a:ext cx="1143000" cy="523875"/>
          </a:xfrm>
          <a:prstGeom prst="roundRect">
            <a:avLst>
              <a:gd name="adj" fmla="val 14545"/>
            </a:avLst>
          </a:prstGeom>
          <a:solidFill>
            <a:srgbClr val="30363D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504950" y="1095375"/>
            <a:ext cx="133350" cy="523875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55007" y="1231582"/>
            <a:ext cx="7854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Week 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7380" y="1171575"/>
            <a:ext cx="19552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环境统一 · 基础搭建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8904" y="1413510"/>
            <a:ext cx="3264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所有成员统一数据格式、API 协议、Git 策略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76250" y="1809750"/>
            <a:ext cx="11239500" cy="190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76250" y="1809750"/>
            <a:ext cx="11239500" cy="476250"/>
          </a:xfrm>
          <a:prstGeom prst="roundRect">
            <a:avLst>
              <a:gd name="adj" fmla="val 2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76250" y="2095500"/>
            <a:ext cx="11239500" cy="190500"/>
          </a:xfrm>
          <a:prstGeom prst="rect">
            <a:avLst/>
          </a:prstGeom>
          <a:solidFill>
            <a:srgbClr val="3FB95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13141" y="1904048"/>
            <a:ext cx="276571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D1117"/>
                </a:solidFill>
                <a:latin typeface="Arial"/>
                <a:ea typeface="Microsoft YaHei"/>
                <a:cs typeface="Arial"/>
              </a:rPr>
              <a:t>Week 1~2 · MVP 阶段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6750" y="2428875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87339" y="2505075"/>
            <a:ext cx="14734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A · Agent 组长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2065" y="2775585"/>
            <a:ext cx="11639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Agent 系统搭建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9216" y="2994660"/>
            <a:ext cx="13296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FastAPI 接口开发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33750" y="2428875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3FB95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944950" y="2505075"/>
            <a:ext cx="12922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B · 算法负责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81094" y="27755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00322" y="29946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模拟数据生成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000750" y="2428875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BC8C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611950" y="2505075"/>
            <a:ext cx="12922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C · 前端负责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92341" y="2775585"/>
            <a:ext cx="11314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Vue 3 框架搭建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674" y="2994660"/>
            <a:ext cx="1190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Dashboard 布局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667750" y="2428875"/>
            <a:ext cx="2762250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D29922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402775" y="2505075"/>
            <a:ext cx="12922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D · 测试交付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38919" y="27755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知识库整理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58147" y="29946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资料收集分类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6750" y="3381375"/>
            <a:ext cx="10763250" cy="238125"/>
          </a:xfrm>
          <a:prstGeom prst="roundRect">
            <a:avLst>
              <a:gd name="adj" fmla="val 16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614242" y="3423285"/>
            <a:ext cx="4868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MVP 目标：输入问题 → 查询数据 → 展示曲线（端到端基本可跑）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76250" y="3905250"/>
            <a:ext cx="11239500" cy="190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476250" y="3905250"/>
            <a:ext cx="11239500" cy="476250"/>
          </a:xfrm>
          <a:prstGeom prst="roundRect">
            <a:avLst>
              <a:gd name="adj" fmla="val 20000"/>
            </a:avLst>
          </a:prstGeom>
          <a:solidFill>
            <a:srgbClr val="58A6F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476250" y="4191000"/>
            <a:ext cx="11239500" cy="190500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478768" y="3999548"/>
            <a:ext cx="32344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D1117"/>
                </a:solidFill>
                <a:latin typeface="Arial"/>
                <a:ea typeface="Microsoft YaHei"/>
                <a:cs typeface="Arial"/>
              </a:rPr>
              <a:t>Week 3~4 · 智能能力阶段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" y="4524375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854822" y="46005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58A6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20902" y="4871085"/>
            <a:ext cx="12062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Agent Tool 扩展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63326" y="5090160"/>
            <a:ext cx="9214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多 Tool 调度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333750" y="4524375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3FB95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521822" y="46005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3FB95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100322" y="4871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预警算法实现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100322" y="50901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四类异常检测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000750" y="4524375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BC8CFF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88822" y="46005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928866" y="4871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报警页面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86550" y="50901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实时数据可视化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667750" y="4524375"/>
            <a:ext cx="2762250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D29922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979647" y="4600575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D299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449638" y="4871085"/>
            <a:ext cx="11984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RAG 知识库构建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558147" y="50901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检索接口开发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66750" y="5476875"/>
            <a:ext cx="10763250" cy="238125"/>
          </a:xfrm>
          <a:prstGeom prst="roundRect">
            <a:avLst>
              <a:gd name="adj" fmla="val 16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4483379" y="5518785"/>
            <a:ext cx="31299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目标：异常检测 + 故障解释 → 智能能力上线</a:t>
            </a:r>
          </a:p>
        </p:txBody>
      </p:sp>
      <p:sp>
        <p:nvSpPr>
          <p:cNvPr id="56" name="Rectangle 56"/>
          <p:cNvSpPr/>
          <p:nvPr/>
        </p:nvSpPr>
        <p:spPr>
          <a:xfrm>
            <a:off x="476250" y="6096000"/>
            <a:ext cx="2714625" cy="762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3286125" y="6096000"/>
            <a:ext cx="2809875" cy="762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6191250" y="6096000"/>
            <a:ext cx="2714625" cy="7620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9001125" y="6096000"/>
            <a:ext cx="2714625" cy="7620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573500" y="6260306"/>
            <a:ext cx="5106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F85149"/>
                </a:solidFill>
                <a:latin typeface="Arial"/>
                <a:ea typeface="Arial"/>
                <a:cs typeface="Arial"/>
              </a:rPr>
              <a:t>Week 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46525" y="6260306"/>
            <a:ext cx="6795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3FB950"/>
                </a:solidFill>
                <a:latin typeface="Arial"/>
                <a:ea typeface="Arial"/>
                <a:cs typeface="Arial"/>
              </a:rPr>
              <a:t>Week 1-2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204025" y="6260306"/>
            <a:ext cx="6795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58A6FF"/>
                </a:solidFill>
                <a:latin typeface="Arial"/>
                <a:ea typeface="Arial"/>
                <a:cs typeface="Arial"/>
              </a:rPr>
              <a:t>Week 3-4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132147" y="6260306"/>
            <a:ext cx="4430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持续 →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6501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517415" y="136208"/>
            <a:ext cx="515717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8 周开发计划 — Week 5~8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49282" y="583882"/>
            <a:ext cx="249343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完整闭环 · 比赛冲刺交付</a:t>
            </a:r>
          </a:p>
        </p:txBody>
      </p:sp>
      <p:sp>
        <p:nvSpPr>
          <p:cNvPr id="5" name="Line 5"/>
          <p:cNvSpPr/>
          <p:nvPr/>
        </p:nvSpPr>
        <p:spPr>
          <a:xfrm>
            <a:off x="3238500" y="9144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476250" y="1095375"/>
            <a:ext cx="11239500" cy="190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76250" y="1095375"/>
            <a:ext cx="11239500" cy="476250"/>
          </a:xfrm>
          <a:prstGeom prst="roundRect">
            <a:avLst>
              <a:gd name="adj" fmla="val 20000"/>
            </a:avLst>
          </a:prstGeom>
          <a:solidFill>
            <a:srgbClr val="BC8C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76250" y="1381125"/>
            <a:ext cx="11239500" cy="190500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478768" y="1189672"/>
            <a:ext cx="32344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D1117"/>
                </a:solidFill>
                <a:latin typeface="Arial"/>
                <a:ea typeface="Microsoft YaHei"/>
                <a:cs typeface="Arial"/>
              </a:rPr>
              <a:t>Week 5~6 · 完整闭环阶段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66750" y="1714500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854822" y="1790700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58A6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9486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日志系统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4866" y="22802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报告生成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333750" y="1714500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3FB95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521822" y="1790700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3FB95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6186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预测模型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61866" y="22802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模型优化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00750" y="1714500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BC8C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188822" y="1790700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2674" y="2061210"/>
            <a:ext cx="1190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完整 Dashboard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48094" y="22802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全页面上线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667750" y="1714500"/>
            <a:ext cx="2762250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D29922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979647" y="1790700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D299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19691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测试验证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19691" y="22802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知识增强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6750" y="2667000"/>
            <a:ext cx="10763250" cy="238125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228948" y="2708910"/>
            <a:ext cx="36388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目标：异常 → 预测 → 诊断 → 报告（完整闭环打通）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76250" y="3238500"/>
            <a:ext cx="11239500" cy="190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76250" y="3238500"/>
            <a:ext cx="11239500" cy="476250"/>
          </a:xfrm>
          <a:prstGeom prst="roundRect">
            <a:avLst>
              <a:gd name="adj" fmla="val 20000"/>
            </a:avLst>
          </a:prstGeom>
          <a:solidFill>
            <a:srgbClr val="F85149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" y="3524250"/>
            <a:ext cx="11239500" cy="190500"/>
          </a:xfrm>
          <a:prstGeom prst="rect">
            <a:avLst/>
          </a:prstGeom>
          <a:solidFill>
            <a:srgbClr val="F8514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478768" y="3332798"/>
            <a:ext cx="32344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D1117"/>
                </a:solidFill>
                <a:latin typeface="Arial"/>
                <a:ea typeface="Microsoft YaHei"/>
                <a:cs typeface="Arial"/>
              </a:rPr>
              <a:t>Week 7~8 · 比赛冲刺阶段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6750" y="3857625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58A6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501978" y="3933825"/>
            <a:ext cx="8441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A · 队长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94866" y="4204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系统稳定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94866" y="44234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架构说明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333750" y="3857625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3FB95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4168978" y="3933825"/>
            <a:ext cx="8441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B · 主力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261866" y="4204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算法优化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261866" y="44234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实验数据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000750" y="3857625"/>
            <a:ext cx="2524125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BC8CFF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6835978" y="3933825"/>
            <a:ext cx="8441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C · 主力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83120" y="4204335"/>
            <a:ext cx="5498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UI 优化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28866" y="44234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展示效果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667750" y="3857625"/>
            <a:ext cx="2762250" cy="85725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D29922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626803" y="3933825"/>
            <a:ext cx="8441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D · 辅助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33128" y="4204335"/>
            <a:ext cx="8314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PPT · 视频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19691" y="44234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测试报告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" y="4810125"/>
            <a:ext cx="10763250" cy="238125"/>
          </a:xfrm>
          <a:prstGeom prst="roundRect">
            <a:avLst>
              <a:gd name="adj" fmla="val 16000"/>
            </a:avLst>
          </a:prstGeom>
          <a:solidFill>
            <a:srgbClr val="2A1A1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198849" y="4852035"/>
            <a:ext cx="36990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85149"/>
                </a:solidFill>
                <a:latin typeface="Arial"/>
                <a:ea typeface="Microsoft YaHei"/>
                <a:cs typeface="Arial"/>
              </a:rPr>
              <a:t>目标：系统稳定 · UI 精美 · 演示流畅 · 材料齐全</a:t>
            </a:r>
          </a:p>
        </p:txBody>
      </p:sp>
      <p:sp>
        <p:nvSpPr>
          <p:cNvPr id="50" name="Rectangle 50"/>
          <p:cNvSpPr/>
          <p:nvPr/>
        </p:nvSpPr>
        <p:spPr>
          <a:xfrm>
            <a:off x="476250" y="5334000"/>
            <a:ext cx="11239500" cy="714375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714375" y="5476875"/>
            <a:ext cx="2190750" cy="428625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4288">
            <a:solidFill>
              <a:srgbClr val="F85149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488415" y="5597842"/>
            <a:ext cx="6426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85149"/>
                </a:solidFill>
                <a:latin typeface="Arial"/>
                <a:ea typeface="Arial"/>
                <a:cs typeface="Arial"/>
              </a:rPr>
              <a:t>Week 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727961" y="5630228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统一规范 · 约定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64380" y="558165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857750" y="5476875"/>
            <a:ext cx="2190750" cy="428625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4288">
            <a:solidFill>
              <a:srgbClr val="3FB950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5525352" y="5597842"/>
            <a:ext cx="8555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3FB950"/>
                </a:solidFill>
                <a:latin typeface="Arial"/>
                <a:ea typeface="Arial"/>
                <a:cs typeface="Arial"/>
              </a:rPr>
              <a:t>Week 1-2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066761" y="5630228"/>
            <a:ext cx="6304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MVP 可跑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707755" y="558165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9" name="Rectangle 59"/>
          <p:cNvSpPr/>
          <p:nvPr/>
        </p:nvSpPr>
        <p:spPr>
          <a:xfrm>
            <a:off x="9001125" y="5476875"/>
            <a:ext cx="2524125" cy="428625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4288">
            <a:solidFill>
              <a:srgbClr val="BC8CFF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9830652" y="5597842"/>
            <a:ext cx="8555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Week 3-6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978028" y="5789295"/>
            <a:ext cx="5607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智能+闭环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76250" y="6191250"/>
            <a:ext cx="2809875" cy="762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3381375" y="6191250"/>
            <a:ext cx="2809875" cy="762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64" name="Rectangle 64"/>
          <p:cNvSpPr/>
          <p:nvPr/>
        </p:nvSpPr>
        <p:spPr>
          <a:xfrm>
            <a:off x="6286500" y="6191250"/>
            <a:ext cx="2714625" cy="76200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9096375" y="6191250"/>
            <a:ext cx="2619375" cy="762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621125" y="6355556"/>
            <a:ext cx="5106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F85149"/>
                </a:solidFill>
                <a:latin typeface="Arial"/>
                <a:ea typeface="Arial"/>
                <a:cs typeface="Arial"/>
              </a:rPr>
              <a:t>Week 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441775" y="6355556"/>
            <a:ext cx="6795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3FB950"/>
                </a:solidFill>
                <a:latin typeface="Arial"/>
                <a:ea typeface="Arial"/>
                <a:cs typeface="Arial"/>
              </a:rPr>
              <a:t>Week 1-2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299275" y="6355556"/>
            <a:ext cx="6795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Week 3-6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061525" y="6355556"/>
            <a:ext cx="6795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F85149"/>
                </a:solidFill>
                <a:latin typeface="Arial"/>
                <a:ea typeface="Arial"/>
                <a:cs typeface="Arial"/>
              </a:rPr>
              <a:t>Week 7-8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6501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744231" y="183833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关键协作关系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33070" y="631508"/>
            <a:ext cx="452586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四个角色 · 四条核心协作链路 · 一个完整系统</a:t>
            </a:r>
          </a:p>
        </p:txBody>
      </p:sp>
      <p:sp>
        <p:nvSpPr>
          <p:cNvPr id="5" name="Line 5"/>
          <p:cNvSpPr/>
          <p:nvPr/>
        </p:nvSpPr>
        <p:spPr>
          <a:xfrm>
            <a:off x="2857500" y="95250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4476750" y="1619250"/>
            <a:ext cx="3238500" cy="762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2332"/>
              </a:gs>
              <a:gs pos="100000">
                <a:srgbClr val="0D1117"/>
              </a:gs>
            </a:gsLst>
            <a:lin ang="5400000" scaled="1"/>
          </a:gradFill>
          <a:ln w="28575">
            <a:solidFill>
              <a:srgbClr val="58A6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605710" y="1709738"/>
            <a:ext cx="9805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队长 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05272" y="2108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系统核心枢纽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1333500"/>
            <a:ext cx="2571750" cy="666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2332"/>
              </a:gs>
              <a:gs pos="100000">
                <a:srgbClr val="0D1117"/>
              </a:gs>
            </a:gsLst>
            <a:lin ang="5400000" scaled="1"/>
          </a:gradFill>
          <a:ln w="19050">
            <a:solidFill>
              <a:srgbClr val="3FB95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622957" y="1408748"/>
            <a:ext cx="84983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主力 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7211" y="1744028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工业数据 · 算法</a:t>
            </a:r>
          </a:p>
        </p:txBody>
      </p:sp>
      <p:sp>
        <p:nvSpPr>
          <p:cNvPr id="12" name="Line 12"/>
          <p:cNvSpPr/>
          <p:nvPr/>
        </p:nvSpPr>
        <p:spPr>
          <a:xfrm>
            <a:off x="3333750" y="1666875"/>
            <a:ext cx="1095375" cy="190500"/>
          </a:xfrm>
          <a:custGeom>
            <a:avLst/>
            <a:gdLst/>
            <a:ahLst/>
            <a:cxnLst/>
            <a:rect l="l" t="t" r="r" b="b"/>
            <a:pathLst>
              <a:path w="1095375" h="190500">
                <a:moveTo>
                  <a:pt x="0" y="0"/>
                </a:moveTo>
                <a:lnTo>
                  <a:pt x="1095375" y="190500"/>
                </a:lnTo>
              </a:path>
            </a:pathLst>
          </a:custGeom>
          <a:noFill/>
          <a:ln w="19050">
            <a:solidFill>
              <a:srgbClr val="3FB95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572161" y="14663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最高优先级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858250" y="1333500"/>
            <a:ext cx="2571750" cy="666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2332"/>
              </a:gs>
              <a:gs pos="100000">
                <a:srgbClr val="0D1117"/>
              </a:gs>
            </a:gsLst>
            <a:lin ang="5400000" scaled="1"/>
          </a:gradFill>
          <a:ln w="19050">
            <a:solidFill>
              <a:srgbClr val="BC8CF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719207" y="1408748"/>
            <a:ext cx="84983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主力 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74812" y="1744028"/>
            <a:ext cx="7386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前端 · 产品</a:t>
            </a:r>
          </a:p>
        </p:txBody>
      </p:sp>
      <p:sp>
        <p:nvSpPr>
          <p:cNvPr id="17" name="Line 17"/>
          <p:cNvSpPr/>
          <p:nvPr/>
        </p:nvSpPr>
        <p:spPr>
          <a:xfrm>
            <a:off x="7762875" y="1666875"/>
            <a:ext cx="1047750" cy="190500"/>
          </a:xfrm>
          <a:custGeom>
            <a:avLst/>
            <a:gdLst/>
            <a:ahLst/>
            <a:cxnLst/>
            <a:rect l="l" t="t" r="r" b="b"/>
            <a:pathLst>
              <a:path w="1047750" h="190500">
                <a:moveTo>
                  <a:pt x="0" y="190500"/>
                </a:moveTo>
                <a:lnTo>
                  <a:pt x="1047750" y="0"/>
                </a:lnTo>
              </a:path>
            </a:pathLst>
          </a:custGeom>
          <a:noFill/>
          <a:ln w="19050">
            <a:solidFill>
              <a:srgbClr val="BC8C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3238500" y="2952750"/>
            <a:ext cx="2571750" cy="666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2332"/>
              </a:gs>
              <a:gs pos="100000">
                <a:srgbClr val="0D1117"/>
              </a:gs>
            </a:gsLst>
            <a:lin ang="5400000" scaled="1"/>
          </a:gradFill>
          <a:ln w="19050">
            <a:solidFill>
              <a:srgbClr val="D2992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099457" y="3027998"/>
            <a:ext cx="84983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辅助 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84387" y="3363278"/>
            <a:ext cx="8799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知识库 · 测试</a:t>
            </a:r>
          </a:p>
        </p:txBody>
      </p:sp>
      <p:sp>
        <p:nvSpPr>
          <p:cNvPr id="21" name="Line 21"/>
          <p:cNvSpPr/>
          <p:nvPr/>
        </p:nvSpPr>
        <p:spPr>
          <a:xfrm>
            <a:off x="4762500" y="2381250"/>
            <a:ext cx="571500" cy="523875"/>
          </a:xfrm>
          <a:custGeom>
            <a:avLst/>
            <a:gdLst/>
            <a:ahLst/>
            <a:cxnLst/>
            <a:rect l="l" t="t" r="r" b="b"/>
            <a:pathLst>
              <a:path w="571500" h="523875">
                <a:moveTo>
                  <a:pt x="571500" y="0"/>
                </a:moveTo>
                <a:lnTo>
                  <a:pt x="0" y="523875"/>
                </a:lnTo>
              </a:path>
            </a:pathLst>
          </a:custGeom>
          <a:noFill/>
          <a:ln w="19050">
            <a:solidFill>
              <a:srgbClr val="D29922"/>
            </a:solidFill>
          </a:ln>
        </p:spPr>
      </p:sp>
      <p:sp>
        <p:nvSpPr>
          <p:cNvPr id="22" name="Line 22"/>
          <p:cNvSpPr/>
          <p:nvPr/>
        </p:nvSpPr>
        <p:spPr>
          <a:xfrm>
            <a:off x="2047875" y="2000250"/>
            <a:ext cx="1285875" cy="952500"/>
          </a:xfrm>
          <a:custGeom>
            <a:avLst/>
            <a:gdLst/>
            <a:ahLst/>
            <a:cxnLst/>
            <a:rect l="l" t="t" r="r" b="b"/>
            <a:pathLst>
              <a:path w="1285875" h="952500">
                <a:moveTo>
                  <a:pt x="0" y="0"/>
                </a:moveTo>
                <a:lnTo>
                  <a:pt x="1285875" y="952500"/>
                </a:lnTo>
              </a:path>
            </a:pathLst>
          </a:custGeom>
          <a:noFill/>
          <a:ln w="14288">
            <a:solidFill>
              <a:srgbClr val="D29922"/>
            </a:solidFill>
            <a:custDash>
              <a:ds d="400000" sp="266666"/>
            </a:custDash>
          </a:ln>
        </p:spPr>
      </p:sp>
      <p:sp>
        <p:nvSpPr>
          <p:cNvPr id="23" name="TextBox 23"/>
          <p:cNvSpPr txBox="1"/>
          <p:nvPr/>
        </p:nvSpPr>
        <p:spPr>
          <a:xfrm>
            <a:off x="2471547" y="2371249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案例库维护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86547" y="1466374"/>
            <a:ext cx="5230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API 供给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76250" y="3952875"/>
            <a:ext cx="5524500" cy="619125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4380" y="4048125"/>
            <a:ext cx="5193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3FB950"/>
                </a:solidFill>
                <a:latin typeface="Arial"/>
                <a:ea typeface="Arial"/>
                <a:cs typeface="Arial"/>
              </a:rPr>
              <a:t>A ↔ B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12392" y="40643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最高优先级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6285" y="4336256"/>
            <a:ext cx="461954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B 提供 warning_tool() / predict_tool() → A 负责 Agent 调用调度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191250" y="3952875"/>
            <a:ext cx="5524500" cy="619125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469380" y="4048125"/>
            <a:ext cx="5193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A ↔ C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27392" y="4064318"/>
            <a:ext cx="20395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A 提供 API → C 负责展示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71285" y="4336256"/>
            <a:ext cx="32194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FastAPI 接口驱动 Vue3 + ECharts 全页面渲染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76250" y="4714875"/>
            <a:ext cx="5524500" cy="619125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54380" y="4810125"/>
            <a:ext cx="5193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D29922"/>
                </a:solidFill>
                <a:latin typeface="Arial"/>
                <a:ea typeface="Arial"/>
                <a:cs typeface="Arial"/>
              </a:rPr>
              <a:t>A ↔ 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12392" y="4826318"/>
            <a:ext cx="38473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D 提供 diagnosis_search() → A 负责 RAG 接入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6285" y="5098256"/>
            <a:ext cx="28769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FAISS 向量检索集成到 Agent Tool 调度链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191250" y="4714875"/>
            <a:ext cx="5524500" cy="619125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469380" y="4810125"/>
            <a:ext cx="5193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D29922"/>
                </a:solidFill>
                <a:latin typeface="Arial"/>
                <a:ea typeface="Arial"/>
                <a:cs typeface="Arial"/>
              </a:rPr>
              <a:t>B ↔ 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327392" y="482631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共同维护故障案例库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71285" y="5098256"/>
            <a:ext cx="38919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B 提供异常数据特征 → D 丰富知识库 → 提升 RAG 准确率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76250" y="5572125"/>
            <a:ext cx="11239500" cy="6667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A2332"/>
              </a:gs>
              <a:gs pos="100000">
                <a:srgbClr val="0D1117"/>
              </a:gs>
            </a:gsLst>
            <a:lin ang="5400000" scaled="1"/>
          </a:gradFill>
          <a:ln w="14288">
            <a:solidFill>
              <a:srgbClr val="58A6FF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2613100" y="5675948"/>
            <a:ext cx="69658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A 统一调度 · B 数据驱动 · C 可视化呈现 · D 知识赋能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426695" y="5997892"/>
            <a:ext cx="5338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四条核心链路串联 · 八周迭代交付 · 一个完整的电厂智能预警系统</a:t>
            </a:r>
          </a:p>
        </p:txBody>
      </p:sp>
      <p:sp>
        <p:nvSpPr>
          <p:cNvPr id="44" name="Line 44"/>
          <p:cNvSpPr/>
          <p:nvPr/>
        </p:nvSpPr>
        <p:spPr>
          <a:xfrm>
            <a:off x="952500" y="6429375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4762">
            <a:solidFill>
              <a:srgbClr val="21262D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16501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2026-07-09T10:08:30Z</dcterms:created>
  <dcterms:modified xsi:type="dcterms:W3CDTF">2026-07-09T10:08:30Z</dcterms:modified>
  <cp:category/>
  <cp:contentStatus/>
</cp:coreProperties>
</file>