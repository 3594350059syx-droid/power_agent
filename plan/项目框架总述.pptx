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21262D">
                  <a:alpha val="40000"/>
                </a:srgbClr>
              </a:solidFill>
            </a:ln>
          </p:spPr>
        </p:sp>
      </p:grpSp>
      <p:sp>
        <p:nvSpPr>
          <p:cNvPr id="9" name="Rectangle 9"/>
          <p:cNvSpPr/>
          <p:nvPr/>
        </p:nvSpPr>
        <p:spPr>
          <a:xfrm>
            <a:off x="-28575" y="0"/>
            <a:ext cx="12192000" cy="6858000"/>
          </a:xfrm>
          <a:prstGeom prst="rect">
            <a:avLst/>
          </a:prstGeom>
          <a:gradFill>
            <a:gsLst>
              <a:gs pos="0">
                <a:srgbClr val="58A6FF">
                  <a:alpha val="12000"/>
                </a:srgbClr>
              </a:gs>
              <a:gs pos="60000">
                <a:srgbClr val="58A6FF">
                  <a:alpha val="3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762000" y="0"/>
            <a:ext cx="10668000" cy="6667500"/>
            <a:chOff x="762000" y="0"/>
            <a:chExt cx="10668000" cy="6667500"/>
          </a:xfrm>
        </p:grpSpPr>
        <p:sp>
          <p:nvSpPr>
            <p:cNvPr id="10" name="Line 10"/>
            <p:cNvSpPr/>
            <p:nvPr/>
          </p:nvSpPr>
          <p:spPr>
            <a:xfrm>
              <a:off x="762000" y="762000"/>
              <a:ext cx="5334000" cy="2190750"/>
            </a:xfrm>
            <a:custGeom>
              <a:avLst/>
              <a:gdLst/>
              <a:ahLst/>
              <a:cxnLst/>
              <a:rect l="l" t="t" r="r" b="b"/>
              <a:pathLst>
                <a:path w="5334000" h="2190750">
                  <a:moveTo>
                    <a:pt x="5334000" y="219075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905000" y="381000"/>
              <a:ext cx="4191000" cy="2571750"/>
            </a:xfrm>
            <a:custGeom>
              <a:avLst/>
              <a:gdLst/>
              <a:ahLst/>
              <a:cxnLst/>
              <a:rect l="l" t="t" r="r" b="b"/>
              <a:pathLst>
                <a:path w="4191000" h="2571750">
                  <a:moveTo>
                    <a:pt x="4191000" y="257175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0" y="190500"/>
              <a:ext cx="2286000" cy="2762250"/>
            </a:xfrm>
            <a:custGeom>
              <a:avLst/>
              <a:gdLst/>
              <a:ahLst/>
              <a:cxnLst/>
              <a:rect l="l" t="t" r="r" b="b"/>
              <a:pathLst>
                <a:path w="2286000" h="2762250">
                  <a:moveTo>
                    <a:pt x="2286000" y="276225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295275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190500"/>
              <a:ext cx="2286000" cy="2762250"/>
            </a:xfrm>
            <a:custGeom>
              <a:avLst/>
              <a:gdLst/>
              <a:ahLst/>
              <a:cxnLst/>
              <a:rect l="l" t="t" r="r" b="b"/>
              <a:pathLst>
                <a:path w="2286000" h="2762250">
                  <a:moveTo>
                    <a:pt x="0" y="2762250"/>
                  </a:moveTo>
                  <a:lnTo>
                    <a:pt x="228600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381000"/>
              <a:ext cx="4191000" cy="2571750"/>
            </a:xfrm>
            <a:custGeom>
              <a:avLst/>
              <a:gdLst/>
              <a:ahLst/>
              <a:cxnLst/>
              <a:rect l="l" t="t" r="r" b="b"/>
              <a:pathLst>
                <a:path w="4191000" h="2571750">
                  <a:moveTo>
                    <a:pt x="0" y="2571750"/>
                  </a:moveTo>
                  <a:lnTo>
                    <a:pt x="419100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0" y="762000"/>
              <a:ext cx="5334000" cy="2190750"/>
            </a:xfrm>
            <a:custGeom>
              <a:avLst/>
              <a:gdLst/>
              <a:ahLst/>
              <a:cxnLst/>
              <a:rect l="l" t="t" r="r" b="b"/>
              <a:pathLst>
                <a:path w="5334000" h="2190750">
                  <a:moveTo>
                    <a:pt x="0" y="2190750"/>
                  </a:moveTo>
                  <a:lnTo>
                    <a:pt x="5334000" y="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62000" y="2952750"/>
              <a:ext cx="5334000" cy="2952750"/>
            </a:xfrm>
            <a:custGeom>
              <a:avLst/>
              <a:gdLst/>
              <a:ahLst/>
              <a:cxnLst/>
              <a:rect l="l" t="t" r="r" b="b"/>
              <a:pathLst>
                <a:path w="5334000" h="2952750">
                  <a:moveTo>
                    <a:pt x="5334000" y="0"/>
                  </a:moveTo>
                  <a:lnTo>
                    <a:pt x="0" y="29527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05000" y="2952750"/>
              <a:ext cx="4191000" cy="3524250"/>
            </a:xfrm>
            <a:custGeom>
              <a:avLst/>
              <a:gdLst/>
              <a:ahLst/>
              <a:cxnLst/>
              <a:rect l="l" t="t" r="r" b="b"/>
              <a:pathLst>
                <a:path w="4191000" h="3524250">
                  <a:moveTo>
                    <a:pt x="4191000" y="0"/>
                  </a:moveTo>
                  <a:lnTo>
                    <a:pt x="0" y="35242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810000" y="2952750"/>
              <a:ext cx="2286000" cy="3714750"/>
            </a:xfrm>
            <a:custGeom>
              <a:avLst/>
              <a:gdLst/>
              <a:ahLst/>
              <a:cxnLst/>
              <a:rect l="l" t="t" r="r" b="b"/>
              <a:pathLst>
                <a:path w="2286000" h="3714750">
                  <a:moveTo>
                    <a:pt x="2286000" y="0"/>
                  </a:moveTo>
                  <a:lnTo>
                    <a:pt x="0" y="37147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2952750"/>
              <a:ext cx="2286000" cy="3714750"/>
            </a:xfrm>
            <a:custGeom>
              <a:avLst/>
              <a:gdLst/>
              <a:ahLst/>
              <a:cxnLst/>
              <a:rect l="l" t="t" r="r" b="b"/>
              <a:pathLst>
                <a:path w="2286000" h="3714750">
                  <a:moveTo>
                    <a:pt x="0" y="0"/>
                  </a:moveTo>
                  <a:lnTo>
                    <a:pt x="2286000" y="37147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2952750"/>
              <a:ext cx="4191000" cy="3524250"/>
            </a:xfrm>
            <a:custGeom>
              <a:avLst/>
              <a:gdLst/>
              <a:ahLst/>
              <a:cxnLst/>
              <a:rect l="l" t="t" r="r" b="b"/>
              <a:pathLst>
                <a:path w="4191000" h="3524250">
                  <a:moveTo>
                    <a:pt x="0" y="0"/>
                  </a:moveTo>
                  <a:lnTo>
                    <a:pt x="4191000" y="35242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0" y="2952750"/>
              <a:ext cx="5334000" cy="2952750"/>
            </a:xfrm>
            <a:custGeom>
              <a:avLst/>
              <a:gdLst/>
              <a:ahLst/>
              <a:cxnLst/>
              <a:rect l="l" t="t" r="r" b="b"/>
              <a:pathLst>
                <a:path w="5334000" h="2952750">
                  <a:moveTo>
                    <a:pt x="0" y="0"/>
                  </a:moveTo>
                  <a:lnTo>
                    <a:pt x="5334000" y="2952750"/>
                  </a:lnTo>
                </a:path>
              </a:pathLst>
            </a:custGeom>
            <a:noFill/>
            <a:ln w="7620">
              <a:solidFill>
                <a:srgbClr val="58A6FF">
                  <a:alpha val="15000"/>
                </a:srgbClr>
              </a:solidFill>
            </a:ln>
          </p:spPr>
        </p:sp>
      </p:grpSp>
      <p:sp>
        <p:nvSpPr>
          <p:cNvPr id="24" name="Ellipse 24"/>
          <p:cNvSpPr/>
          <p:nvPr/>
        </p:nvSpPr>
        <p:spPr>
          <a:xfrm>
            <a:off x="5334000" y="2190750"/>
            <a:ext cx="1524000" cy="1524000"/>
          </a:xfrm>
          <a:prstGeom prst="ellipse">
            <a:avLst/>
          </a:prstGeom>
          <a:gradFill>
            <a:gsLst>
              <a:gs pos="0">
                <a:srgbClr val="58A6FF">
                  <a:alpha val="25000"/>
                </a:srgbClr>
              </a:gs>
              <a:gs pos="100000">
                <a:srgbClr val="58A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5947410" y="2781300"/>
            <a:ext cx="297180" cy="342900"/>
            <a:chOff x="5947410" y="2781300"/>
            <a:chExt cx="297180" cy="342900"/>
          </a:xfrm>
        </p:grpSpPr>
        <p:sp>
          <p:nvSpPr>
            <p:cNvPr id="25" name="Polygon 25"/>
            <p:cNvSpPr/>
            <p:nvPr/>
          </p:nvSpPr>
          <p:spPr>
            <a:xfrm>
              <a:off x="5947410" y="2781300"/>
              <a:ext cx="297180" cy="342900"/>
            </a:xfrm>
            <a:custGeom>
              <a:avLst/>
              <a:gdLst/>
              <a:ahLst/>
              <a:cxnLst/>
              <a:rect l="l" t="t" r="r" b="b"/>
              <a:pathLst>
                <a:path w="297180" h="342900">
                  <a:moveTo>
                    <a:pt x="148590" y="0"/>
                  </a:moveTo>
                  <a:lnTo>
                    <a:pt x="297180" y="85725"/>
                  </a:lnTo>
                  <a:lnTo>
                    <a:pt x="297180" y="257175"/>
                  </a:lnTo>
                  <a:lnTo>
                    <a:pt x="148590" y="342900"/>
                  </a:lnTo>
                  <a:lnTo>
                    <a:pt x="0" y="257175"/>
                  </a:lnTo>
                  <a:lnTo>
                    <a:pt x="0" y="85725"/>
                  </a:lnTo>
                  <a:close/>
                </a:path>
              </a:pathLst>
            </a:custGeom>
            <a:noFill/>
            <a:ln w="14288">
              <a:solidFill>
                <a:srgbClr val="58A6F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030278" y="2876550"/>
              <a:ext cx="131445" cy="152400"/>
            </a:xfrm>
            <a:custGeom>
              <a:avLst/>
              <a:gdLst/>
              <a:ahLst/>
              <a:cxnLst/>
              <a:rect l="l" t="t" r="r" b="b"/>
              <a:pathLst>
                <a:path w="131445" h="152400">
                  <a:moveTo>
                    <a:pt x="65722" y="0"/>
                  </a:moveTo>
                  <a:lnTo>
                    <a:pt x="131445" y="38100"/>
                  </a:lnTo>
                  <a:lnTo>
                    <a:pt x="131445" y="114300"/>
                  </a:lnTo>
                  <a:lnTo>
                    <a:pt x="65722" y="1524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8A6FF">
                <a:alpha val="80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067425" y="2924175"/>
              <a:ext cx="57150" cy="57150"/>
            </a:xfrm>
            <a:prstGeom prst="ellipse">
              <a:avLst/>
            </a:prstGeom>
            <a:solidFill>
              <a:srgbClr val="58A6FF"/>
            </a:solidFill>
            <a:ln>
              <a:noFill/>
            </a:ln>
          </p:spPr>
        </p:sp>
      </p:grpSp>
      <p:sp>
        <p:nvSpPr>
          <p:cNvPr id="29" name="Ellipse 29"/>
          <p:cNvSpPr/>
          <p:nvPr/>
        </p:nvSpPr>
        <p:spPr>
          <a:xfrm>
            <a:off x="4929188" y="2643188"/>
            <a:ext cx="47625" cy="47625"/>
          </a:xfrm>
          <a:prstGeom prst="ellipse">
            <a:avLst/>
          </a:prstGeom>
          <a:solidFill>
            <a:srgbClr val="BC8CFF">
              <a:alpha val="70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215188" y="2643188"/>
            <a:ext cx="47625" cy="47625"/>
          </a:xfrm>
          <a:prstGeom prst="ellipse">
            <a:avLst/>
          </a:prstGeom>
          <a:solidFill>
            <a:srgbClr val="BC8CFF">
              <a:alpha val="7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5310188" y="3405188"/>
            <a:ext cx="47625" cy="47625"/>
          </a:xfrm>
          <a:prstGeom prst="ellipse">
            <a:avLst/>
          </a:prstGeom>
          <a:solidFill>
            <a:srgbClr val="3FB950">
              <a:alpha val="6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6834188" y="3405188"/>
            <a:ext cx="47625" cy="47625"/>
          </a:xfrm>
          <a:prstGeom prst="ellipse">
            <a:avLst/>
          </a:prstGeom>
          <a:solidFill>
            <a:srgbClr val="3FB950">
              <a:alpha val="6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4953000" y="266700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1143000" y="28575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BC8CFF">
                <a:alpha val="25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6096000" y="266700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0" y="285750"/>
                </a:moveTo>
                <a:lnTo>
                  <a:pt x="1143000" y="0"/>
                </a:lnTo>
              </a:path>
            </a:pathLst>
          </a:custGeom>
          <a:noFill/>
          <a:ln w="4762">
            <a:solidFill>
              <a:srgbClr val="BC8CFF">
                <a:alpha val="25000"/>
              </a:srgbClr>
            </a:solidFill>
          </a:ln>
        </p:spPr>
      </p:sp>
      <p:sp>
        <p:nvSpPr>
          <p:cNvPr id="35" name="Line 35"/>
          <p:cNvSpPr/>
          <p:nvPr/>
        </p:nvSpPr>
        <p:spPr>
          <a:xfrm>
            <a:off x="5334000" y="2952750"/>
            <a:ext cx="762000" cy="476250"/>
          </a:xfrm>
          <a:custGeom>
            <a:avLst/>
            <a:gdLst/>
            <a:ahLst/>
            <a:cxnLst/>
            <a:rect l="l" t="t" r="r" b="b"/>
            <a:pathLst>
              <a:path w="762000" h="476250">
                <a:moveTo>
                  <a:pt x="76200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3FB950">
                <a:alpha val="25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6096000" y="2952750"/>
            <a:ext cx="762000" cy="476250"/>
          </a:xfrm>
          <a:custGeom>
            <a:avLst/>
            <a:gdLst/>
            <a:ahLst/>
            <a:cxnLst/>
            <a:rect l="l" t="t" r="r" b="b"/>
            <a:pathLst>
              <a:path w="762000" h="476250">
                <a:moveTo>
                  <a:pt x="0" y="0"/>
                </a:moveTo>
                <a:lnTo>
                  <a:pt x="762000" y="476250"/>
                </a:lnTo>
              </a:path>
            </a:pathLst>
          </a:custGeom>
          <a:noFill/>
          <a:ln w="4762">
            <a:solidFill>
              <a:srgbClr val="3FB950">
                <a:alpha val="25000"/>
              </a:srgbClr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46311" y="3796665"/>
            <a:ext cx="12099379" cy="1532202"/>
            <a:chOff x="46311" y="3796665"/>
            <a:chExt cx="12099379" cy="1532202"/>
          </a:xfrm>
        </p:grpSpPr>
        <p:sp>
          <p:nvSpPr>
            <p:cNvPr id="37" name="TextBox 37"/>
            <p:cNvSpPr txBox="1"/>
            <p:nvPr/>
          </p:nvSpPr>
          <p:spPr>
            <a:xfrm>
              <a:off x="46311" y="3796665"/>
              <a:ext cx="1209937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0" b="1" spc="300" dirty="0">
                  <a:gradFill>
                    <a:gsLst>
                      <a:gs pos="0">
                        <a:srgbClr val="58A6FF"/>
                      </a:gs>
                      <a:gs pos="50000">
                        <a:srgbClr val="BC8CFF"/>
                      </a:gs>
                      <a:gs pos="100000">
                        <a:srgbClr val="58A6FF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电厂智能预警与故障诊断系统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238500" y="4714875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714750" y="47434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4762">
              <a:solidFill>
                <a:srgbClr val="BC8CFF">
                  <a:alpha val="3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52" y="4859475"/>
              <a:ext cx="109963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spc="1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基于LLM Agent、多源工业时序数据分析、知识增强诊断与自适应优化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72000" y="6204585"/>
            <a:ext cx="3048000" cy="281940"/>
            <a:chOff x="4572000" y="6204585"/>
            <a:chExt cx="3048000" cy="281940"/>
          </a:xfrm>
        </p:grpSpPr>
        <p:sp>
          <p:nvSpPr>
            <p:cNvPr id="42" name="TextBox 42"/>
            <p:cNvSpPr txBox="1"/>
            <p:nvPr/>
          </p:nvSpPr>
          <p:spPr>
            <a:xfrm>
              <a:off x="5092370" y="6204585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spc="30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技术架构方案 · 2026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4572000" y="6477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90500" y="190500"/>
            <a:ext cx="11811000" cy="6477000"/>
            <a:chOff x="190500" y="190500"/>
            <a:chExt cx="11811000" cy="6477000"/>
          </a:xfrm>
        </p:grpSpPr>
        <p:sp>
          <p:nvSpPr>
            <p:cNvPr id="45" name="Polyline 45"/>
            <p:cNvSpPr/>
            <p:nvPr/>
          </p:nvSpPr>
          <p:spPr>
            <a:xfrm>
              <a:off x="190500" y="190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46" name="Polyline 46"/>
            <p:cNvSpPr/>
            <p:nvPr/>
          </p:nvSpPr>
          <p:spPr>
            <a:xfrm>
              <a:off x="11811000" y="190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19050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47" name="Polyline 47"/>
            <p:cNvSpPr/>
            <p:nvPr/>
          </p:nvSpPr>
          <p:spPr>
            <a:xfrm>
              <a:off x="1905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48" name="Polyline 48"/>
            <p:cNvSpPr/>
            <p:nvPr/>
          </p:nvSpPr>
          <p:spPr>
            <a:xfrm>
              <a:off x="118110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</p:grpSp>
      <p:sp>
        <p:nvSpPr>
          <p:cNvPr id="52" name="TextBox 40">
            <a:extLst>
              <a:ext uri="{FF2B5EF4-FFF2-40B4-BE49-F238E27FC236}">
                <a16:creationId xmlns:a16="http://schemas.microsoft.com/office/drawing/2014/main" id="{9221CEB5-C24C-D792-57B5-B49A84C2EA00}"/>
              </a:ext>
            </a:extLst>
          </p:cNvPr>
          <p:cNvSpPr txBox="1"/>
          <p:nvPr/>
        </p:nvSpPr>
        <p:spPr>
          <a:xfrm>
            <a:off x="5680096" y="5392221"/>
            <a:ext cx="98264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400" spc="1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AI</a:t>
            </a:r>
            <a:r>
              <a:rPr lang="zh-CN" altLang="en-US" sz="2400" spc="1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生成</a:t>
            </a:r>
            <a:endParaRPr lang="zh-CN" sz="2400" spc="150" dirty="0">
              <a:solidFill>
                <a:srgbClr val="8B949E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4057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核心亮点</a:t>
            </a:r>
          </a:p>
        </p:txBody>
      </p:sp>
      <p:sp>
        <p:nvSpPr>
          <p:cNvPr id="8" name="Line 8"/>
          <p:cNvSpPr/>
          <p:nvPr/>
        </p:nvSpPr>
        <p:spPr>
          <a:xfrm>
            <a:off x="476250" y="66675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476250" y="904875"/>
            <a:ext cx="3333750" cy="952500"/>
            <a:chOff x="476250" y="904875"/>
            <a:chExt cx="3333750" cy="952500"/>
          </a:xfrm>
        </p:grpSpPr>
        <p:sp>
          <p:nvSpPr>
            <p:cNvPr id="9" name="Rectangle 9"/>
            <p:cNvSpPr/>
            <p:nvPr/>
          </p:nvSpPr>
          <p:spPr>
            <a:xfrm>
              <a:off x="476250" y="904875"/>
              <a:ext cx="3333750" cy="952500"/>
            </a:xfrm>
            <a:prstGeom prst="roundRect">
              <a:avLst>
                <a:gd name="adj" fmla="val 6000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6250" y="904875"/>
              <a:ext cx="38100" cy="9525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90550" y="1133475"/>
              <a:ext cx="304800" cy="304800"/>
            </a:xfrm>
            <a:prstGeom prst="ellipse">
              <a:avLst/>
            </a:prstGeom>
            <a:solidFill>
              <a:srgbClr val="58A6FF">
                <a:alpha val="15000"/>
              </a:srgbClr>
            </a:solidFill>
            <a:ln w="9525">
              <a:solidFill>
                <a:srgbClr val="58A6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0684" y="1213485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AI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8032" y="1011555"/>
              <a:ext cx="1517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LLM 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842" y="1359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任务理解与工具调度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76250" y="1981200"/>
            <a:ext cx="333375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76250" y="198120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590550" y="2209800"/>
            <a:ext cx="304800" cy="304800"/>
          </a:xfrm>
          <a:prstGeom prst="ellipse">
            <a:avLst/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51365" y="2306002"/>
            <a:ext cx="1831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8032" y="20878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工业时序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1842" y="24355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异常检测与趋势预测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6250" y="3057525"/>
            <a:ext cx="333375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76250" y="3057525"/>
            <a:ext cx="38100" cy="95250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590550" y="3286125"/>
            <a:ext cx="304800" cy="304800"/>
          </a:xfrm>
          <a:prstGeom prst="ellipse">
            <a:avLst/>
          </a:prstGeom>
          <a:solidFill>
            <a:srgbClr val="BC8CFF">
              <a:alpha val="15000"/>
            </a:srgbClr>
          </a:solidFill>
          <a:ln w="9525">
            <a:solidFill>
              <a:srgbClr val="BC8C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51365" y="3382328"/>
            <a:ext cx="1831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BC8CFF"/>
                </a:solidFill>
                <a:latin typeface="Consolas"/>
                <a:ea typeface="Consolas"/>
                <a:cs typeface="Consolas"/>
              </a:rPr>
              <a:t>KG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8032" y="3164205"/>
            <a:ext cx="11661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RAG知识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1842" y="35118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故障推理与案例匹配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" y="4133850"/>
            <a:ext cx="333375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76250" y="413385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590550" y="4362450"/>
            <a:ext cx="304800" cy="304800"/>
          </a:xfrm>
          <a:prstGeom prst="ellipse">
            <a:avLst/>
          </a:prstGeom>
          <a:solidFill>
            <a:srgbClr val="D29922">
              <a:alpha val="15000"/>
            </a:srgbClr>
          </a:solidFill>
          <a:ln w="9525">
            <a:solidFill>
              <a:srgbClr val="D2992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5683" y="4458652"/>
            <a:ext cx="2145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ML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8032" y="4240530"/>
            <a:ext cx="9118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自适应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1842" y="4588192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工况识别与模型持续优化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" y="5210175"/>
            <a:ext cx="333375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76250" y="5210175"/>
            <a:ext cx="38100" cy="9525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590550" y="5438775"/>
            <a:ext cx="304800" cy="304800"/>
          </a:xfrm>
          <a:prstGeom prst="ellipse">
            <a:avLst/>
          </a:prstGeom>
          <a:solidFill>
            <a:srgbClr val="F85149">
              <a:alpha val="15000"/>
            </a:srgbClr>
          </a:solidFill>
          <a:ln w="9525">
            <a:solidFill>
              <a:srgbClr val="F8514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70968" y="5534978"/>
            <a:ext cx="143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85149"/>
                </a:solidFill>
                <a:latin typeface="Consolas"/>
                <a:ea typeface="Consolas"/>
                <a:cs typeface="Consolas"/>
              </a:rPr>
              <a:t>UI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8032" y="5316855"/>
            <a:ext cx="11857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Web监盘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1842" y="56645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人机协同闭环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57652" y="904878"/>
            <a:ext cx="8092039" cy="5259824"/>
          </a:xfrm>
          <a:prstGeom prst="roundRect">
            <a:avLst>
              <a:gd name="adj" fmla="val 1087"/>
            </a:avLst>
          </a:prstGeom>
          <a:solidFill>
            <a:srgbClr val="161B22"/>
          </a:solidFill>
          <a:ln w="4762">
            <a:solidFill>
              <a:srgbClr val="30363D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331970" y="1138238"/>
            <a:ext cx="542953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五大技术支柱构建完整的智能运维闭环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34256" y="1567815"/>
            <a:ext cx="38203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从感知到决策的全链路AI赋能体系</a:t>
            </a:r>
          </a:p>
        </p:txBody>
      </p:sp>
      <p:sp>
        <p:nvSpPr>
          <p:cNvPr id="43" name="Line 43"/>
          <p:cNvSpPr/>
          <p:nvPr/>
        </p:nvSpPr>
        <p:spPr>
          <a:xfrm>
            <a:off x="4343400" y="2000250"/>
            <a:ext cx="7086600" cy="9525"/>
          </a:xfrm>
          <a:custGeom>
            <a:avLst/>
            <a:gdLst/>
            <a:ahLst/>
            <a:cxnLst/>
            <a:rect l="l" t="t" r="r" b="b"/>
            <a:pathLst>
              <a:path w="7086600" h="9525">
                <a:moveTo>
                  <a:pt x="0" y="0"/>
                </a:moveTo>
                <a:lnTo>
                  <a:pt x="70866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grpSp>
        <p:nvGrpSpPr>
          <p:cNvPr id="49" name="Group 49"/>
          <p:cNvGrpSpPr/>
          <p:nvPr/>
        </p:nvGrpSpPr>
        <p:grpSpPr>
          <a:xfrm>
            <a:off x="4334256" y="2282190"/>
            <a:ext cx="8311325" cy="3723894"/>
            <a:chOff x="4334256" y="2282190"/>
            <a:chExt cx="8311325" cy="3723894"/>
          </a:xfrm>
        </p:grpSpPr>
        <p:sp>
          <p:nvSpPr>
            <p:cNvPr id="44" name="TextBox 44"/>
            <p:cNvSpPr txBox="1"/>
            <p:nvPr/>
          </p:nvSpPr>
          <p:spPr>
            <a:xfrm>
              <a:off x="4334256" y="2282190"/>
              <a:ext cx="800785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80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LLM Agent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 — DeepSeek驱动智能交互中枢，LangGraph编排Agent控制流，</a:t>
              </a: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实现自然语言理解、意图识别、参数抽取、任务规划与Tool调用的全自动编排。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34256" y="3044190"/>
              <a:ext cx="8311325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工业时序分析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 — </a:t>
              </a:r>
              <a:r>
                <a:rPr lang="zh-CN" sz="14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PostgreSQL + TimescaleDB混合存储，LSTM/Prophet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双模型</a:t>
              </a: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驱动</a:t>
              </a:r>
              <a:endParaRPr lang="en-US" altLang="zh-CN" sz="1800" dirty="0">
                <a:solidFill>
                  <a:srgbClr val="F0F6FC"/>
                </a:solidFill>
                <a:latin typeface="Arial"/>
                <a:ea typeface="Microsoft YaHei"/>
                <a:cs typeface="Arial"/>
              </a:endParaRPr>
            </a:p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多粒度异常检测，支持实时/历史数据统一查询与时序趋势预测。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34256" y="3806190"/>
              <a:ext cx="7123176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RAG知识增强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 — FAISS向量检索 + 电厂运行规程 + 历史故障案例库，</a:t>
              </a: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实现故障知识的秒级检索与DeepSeek推理诊断报告自动生成。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34256" y="4568190"/>
              <a:ext cx="7495222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模型自适应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 — 工况识别驱动模型分流训练，低负荷与高负荷各自建模，</a:t>
              </a: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RMSE/MAE双指标评估，保障模型版本迭代质量与持续优化。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4256" y="5330190"/>
              <a:ext cx="7843266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Web监盘</a:t>
              </a:r>
              <a:r>
                <a:rPr lang="zh-CN" sz="18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 — Vue3 + ECharts构建8大功能页面，AI交互窗口作为统一入口，</a:t>
              </a:r>
              <a:r>
                <a:rPr lang="zh-CN" sz="18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实现人机协同闭环——让AI成为电厂的"数字值长"。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857250"/>
            <a:ext cx="12192000" cy="5153025"/>
            <a:chOff x="0" y="857250"/>
            <a:chExt cx="12192000" cy="5153025"/>
          </a:xfrm>
        </p:grpSpPr>
        <p:sp>
          <p:nvSpPr>
            <p:cNvPr id="2" name="Line 2"/>
            <p:cNvSpPr/>
            <p:nvPr/>
          </p:nvSpPr>
          <p:spPr>
            <a:xfrm>
              <a:off x="0" y="857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571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28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6000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10" name="Rectangle 10"/>
          <p:cNvSpPr/>
          <p:nvPr/>
        </p:nvSpPr>
        <p:spPr>
          <a:xfrm>
            <a:off x="476250" y="1714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3598" y="981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项目总体架构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8130" y="276225"/>
            <a:ext cx="2751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四层架构·智能中枢贯通全链路</a:t>
            </a:r>
          </a:p>
        </p:txBody>
      </p:sp>
      <p:sp>
        <p:nvSpPr>
          <p:cNvPr id="13" name="Line 13"/>
          <p:cNvSpPr/>
          <p:nvPr/>
        </p:nvSpPr>
        <p:spPr>
          <a:xfrm>
            <a:off x="476250" y="6096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76250" y="781050"/>
            <a:ext cx="11239500" cy="74295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7620">
            <a:solidFill>
              <a:srgbClr val="58A6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76250" y="781050"/>
            <a:ext cx="11239500" cy="74295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58A6FF">
                  <a:alpha val="15000"/>
                </a:srgbClr>
              </a:gs>
              <a:gs pos="100000">
                <a:srgbClr val="58A6FF">
                  <a:alpha val="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76250" y="781050"/>
            <a:ext cx="38100" cy="7429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17982" y="802005"/>
            <a:ext cx="11020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58A6FF"/>
                </a:solidFill>
                <a:latin typeface="Arial"/>
                <a:ea typeface="Arial"/>
                <a:cs typeface="Arial"/>
              </a:rPr>
              <a:t>Layer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0106" y="8343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用户交互层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000500" y="952500"/>
            <a:ext cx="6096000" cy="400050"/>
            <a:chOff x="4000500" y="952500"/>
            <a:chExt cx="6096000" cy="400050"/>
          </a:xfrm>
        </p:grpSpPr>
        <p:sp>
          <p:nvSpPr>
            <p:cNvPr id="19" name="Rectangle 19"/>
            <p:cNvSpPr/>
            <p:nvPr/>
          </p:nvSpPr>
          <p:spPr>
            <a:xfrm>
              <a:off x="4000500" y="952500"/>
              <a:ext cx="19050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05430" y="106394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📝 文本输入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952500"/>
              <a:ext cx="19050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00930" y="106394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🎤 语音输入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1500" y="952500"/>
              <a:ext cx="19050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6430" y="1063942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⚡ 快捷指令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53000" y="1352550"/>
            <a:ext cx="4200525" cy="171450"/>
            <a:chOff x="4953000" y="1352550"/>
            <a:chExt cx="4200525" cy="171450"/>
          </a:xfrm>
        </p:grpSpPr>
        <p:sp>
          <p:nvSpPr>
            <p:cNvPr id="26" name="Line 26"/>
            <p:cNvSpPr/>
            <p:nvPr/>
          </p:nvSpPr>
          <p:spPr>
            <a:xfrm>
              <a:off x="4953000" y="135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8B949E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048500" y="135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8B949E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144000" y="135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8B949E">
                  <a:alpha val="40000"/>
                </a:srgbClr>
              </a:solidFill>
            </a:ln>
          </p:spPr>
        </p:sp>
      </p:grpSp>
      <p:sp>
        <p:nvSpPr>
          <p:cNvPr id="30" name="Rectangle 30"/>
          <p:cNvSpPr/>
          <p:nvPr/>
        </p:nvSpPr>
        <p:spPr>
          <a:xfrm>
            <a:off x="4572000" y="1276350"/>
            <a:ext cx="762000" cy="209550"/>
          </a:xfrm>
          <a:prstGeom prst="roundRect">
            <a:avLst>
              <a:gd name="adj" fmla="val 13636"/>
            </a:avLst>
          </a:prstGeom>
          <a:solidFill>
            <a:srgbClr val="0D3B66"/>
          </a:solidFill>
          <a:ln w="4762">
            <a:solidFill>
              <a:srgbClr val="58A6FF">
                <a:alpha val="6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7918" y="1331595"/>
            <a:ext cx="550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8A6FF"/>
                </a:solidFill>
                <a:latin typeface="Consolas"/>
                <a:ea typeface="Consolas"/>
                <a:cs typeface="Consolas"/>
              </a:rPr>
              <a:t>DeepSeek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1276350"/>
            <a:ext cx="762000" cy="209550"/>
          </a:xfrm>
          <a:prstGeom prst="roundRect">
            <a:avLst>
              <a:gd name="adj" fmla="val 13636"/>
            </a:avLst>
          </a:prstGeom>
          <a:solidFill>
            <a:srgbClr val="1C2333"/>
          </a:solidFill>
          <a:ln w="4762">
            <a:solidFill>
              <a:srgbClr val="3FB950">
                <a:alpha val="6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811676" y="1331595"/>
            <a:ext cx="4736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Whisper</a:t>
            </a:r>
          </a:p>
        </p:txBody>
      </p:sp>
      <p:sp>
        <p:nvSpPr>
          <p:cNvPr id="34" name="Polygon 34"/>
          <p:cNvSpPr/>
          <p:nvPr/>
        </p:nvSpPr>
        <p:spPr>
          <a:xfrm>
            <a:off x="6019800" y="1466850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762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58A6FF">
              <a:alpha val="50000"/>
            </a:srgbClr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6096000" y="14763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58A6FF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476250" y="1685925"/>
            <a:ext cx="11239500" cy="1352550"/>
          </a:xfrm>
          <a:prstGeom prst="roundRect">
            <a:avLst>
              <a:gd name="adj" fmla="val 4225"/>
            </a:avLst>
          </a:prstGeom>
          <a:solidFill>
            <a:srgbClr val="161B22"/>
          </a:solidFill>
          <a:ln w="7620">
            <a:solidFill>
              <a:srgbClr val="BC8CFF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76250" y="1685925"/>
            <a:ext cx="11239500" cy="1352550"/>
          </a:xfrm>
          <a:prstGeom prst="roundRect">
            <a:avLst>
              <a:gd name="adj" fmla="val 4225"/>
            </a:avLst>
          </a:prstGeom>
          <a:gradFill>
            <a:gsLst>
              <a:gs pos="0">
                <a:srgbClr val="BC8CFF">
                  <a:alpha val="15000"/>
                </a:srgbClr>
              </a:gs>
              <a:gs pos="100000">
                <a:srgbClr val="BC8CFF">
                  <a:alpha val="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76250" y="1685925"/>
            <a:ext cx="38100" cy="135255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17982" y="1706880"/>
            <a:ext cx="11020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BC8CFF"/>
                </a:solidFill>
                <a:latin typeface="Arial"/>
                <a:ea typeface="Arial"/>
                <a:cs typeface="Arial"/>
              </a:rPr>
              <a:t>Layer 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10106" y="1739265"/>
            <a:ext cx="4511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智能交互 Agent — LangGraph 控制中心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762000" y="2143125"/>
            <a:ext cx="10058400" cy="533400"/>
            <a:chOff x="762000" y="2143125"/>
            <a:chExt cx="10058400" cy="533400"/>
          </a:xfrm>
        </p:grpSpPr>
        <p:sp>
          <p:nvSpPr>
            <p:cNvPr id="41" name="Rectangle 41"/>
            <p:cNvSpPr/>
            <p:nvPr/>
          </p:nvSpPr>
          <p:spPr>
            <a:xfrm>
              <a:off x="762000" y="2143125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9525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2143125"/>
              <a:ext cx="182880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54273" y="2235518"/>
              <a:ext cx="1044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Intent 识别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49147" y="2458402"/>
              <a:ext cx="854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NLP意图解析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819400" y="2143125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9525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19400" y="2143125"/>
              <a:ext cx="182880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345294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参数抽取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25216" y="2458402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JSON结构化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76800" y="2143125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9525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876800" y="2143125"/>
              <a:ext cx="182880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02694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任务规划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32488" y="2458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多步骤编排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934200" y="2143125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9525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34200" y="2143125"/>
              <a:ext cx="1828800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30503" y="2235518"/>
              <a:ext cx="836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Tool 调用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19213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工具选择执行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991600" y="2143125"/>
              <a:ext cx="18288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9525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991600" y="2143125"/>
              <a:ext cx="182880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17494" y="2235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状态管理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47288" y="2458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上下文保持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590800" y="2409825"/>
            <a:ext cx="6400800" cy="9525"/>
            <a:chOff x="2590800" y="2409825"/>
            <a:chExt cx="6400800" cy="9525"/>
          </a:xfrm>
        </p:grpSpPr>
        <p:sp>
          <p:nvSpPr>
            <p:cNvPr id="62" name="Line 62"/>
            <p:cNvSpPr/>
            <p:nvPr/>
          </p:nvSpPr>
          <p:spPr>
            <a:xfrm>
              <a:off x="2590800" y="240982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9525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4648200" y="240982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9525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6705600" y="240982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9525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8763000" y="240982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9525">
              <a:solidFill>
                <a:srgbClr val="8B949E">
                  <a:alpha val="30000"/>
                </a:srgbClr>
              </a:solidFill>
            </a:ln>
          </p:spPr>
        </p:sp>
      </p:grpSp>
      <p:sp>
        <p:nvSpPr>
          <p:cNvPr id="67" name="Polygon 67"/>
          <p:cNvSpPr/>
          <p:nvPr/>
        </p:nvSpPr>
        <p:spPr>
          <a:xfrm>
            <a:off x="6019800" y="298132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762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BC8CFF">
              <a:alpha val="50000"/>
            </a:srgbClr>
          </a:solidFill>
          <a:ln>
            <a:noFill/>
          </a:ln>
        </p:spPr>
      </p:sp>
      <p:sp>
        <p:nvSpPr>
          <p:cNvPr id="68" name="Line 68"/>
          <p:cNvSpPr/>
          <p:nvPr/>
        </p:nvSpPr>
        <p:spPr>
          <a:xfrm>
            <a:off x="6096000" y="29908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BC8CFF">
                <a:alpha val="40000"/>
              </a:srgbClr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476250" y="3200400"/>
            <a:ext cx="11239500" cy="104775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7620">
            <a:solidFill>
              <a:srgbClr val="3FB950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476250" y="3200400"/>
            <a:ext cx="11239500" cy="1047750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3FB950">
                  <a:alpha val="12000"/>
                </a:srgbClr>
              </a:gs>
              <a:gs pos="100000">
                <a:srgbClr val="3FB950">
                  <a:alpha val="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476250" y="32004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17982" y="3221355"/>
            <a:ext cx="11020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FB950"/>
                </a:solidFill>
                <a:latin typeface="Arial"/>
                <a:ea typeface="Arial"/>
                <a:cs typeface="Arial"/>
              </a:rPr>
              <a:t>Layer 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610106" y="3253740"/>
            <a:ext cx="215663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Agent Tool 能力层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651881" y="3541003"/>
            <a:ext cx="9559393" cy="665999"/>
            <a:chOff x="632357" y="3582151"/>
            <a:chExt cx="9559393" cy="665999"/>
          </a:xfrm>
        </p:grpSpPr>
        <p:sp>
          <p:nvSpPr>
            <p:cNvPr id="74" name="Rectangle 74"/>
            <p:cNvSpPr/>
            <p:nvPr/>
          </p:nvSpPr>
          <p:spPr>
            <a:xfrm>
              <a:off x="632357" y="3605185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13886" y="359758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🔍 数据查询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6088" y="3873341"/>
              <a:ext cx="6224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Data Query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000250" y="36004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273242" y="3582151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📈 趋势分析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234838" y="3873341"/>
              <a:ext cx="788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Trend Analysis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371850" y="36004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632866" y="359758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🔔 预警研判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575889" y="3873341"/>
              <a:ext cx="8492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Alert Detection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743450" y="36004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023990" y="359758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📊 时序预测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980013" y="3873341"/>
              <a:ext cx="7841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LSTM/Prophet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32357" y="3735685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46088" y="3946398"/>
              <a:ext cx="682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🧠 RAG诊断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6417" y="3797141"/>
              <a:ext cx="6549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FAISS + LLM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000250" y="37528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294156" y="3929731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📋 历史统计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301221" y="3797141"/>
              <a:ext cx="6553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Alarm Stats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371850" y="37528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664933" y="389020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🔄 模型优化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597777" y="3768165"/>
              <a:ext cx="8273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Model Optimize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743450" y="3752850"/>
              <a:ext cx="1257300" cy="457200"/>
            </a:xfrm>
            <a:prstGeom prst="roundRect">
              <a:avLst>
                <a:gd name="adj" fmla="val 8333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023990" y="3905990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📄 报告生成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072134" y="3797141"/>
              <a:ext cx="5999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Report Gen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115050" y="3600450"/>
              <a:ext cx="2286000" cy="647700"/>
            </a:xfrm>
            <a:prstGeom prst="roundRect">
              <a:avLst>
                <a:gd name="adj" fmla="val 5882"/>
              </a:avLst>
            </a:prstGeom>
            <a:solidFill>
              <a:srgbClr val="1C2333"/>
            </a:solidFill>
            <a:ln w="4762">
              <a:solidFill>
                <a:srgbClr val="3FB950">
                  <a:alpha val="30000"/>
                </a:srgbClr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826246" y="3696652"/>
              <a:ext cx="863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更多Tool能力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014447" y="3884295"/>
              <a:ext cx="2487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告警推送 · 日志追溯 · 知识库检索 · 设备管理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02559" y="4063841"/>
              <a:ext cx="19109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Tool扩展遵循LangGraph工具注册协议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667750" y="3600450"/>
              <a:ext cx="1524000" cy="571500"/>
            </a:xfrm>
            <a:prstGeom prst="roundRect">
              <a:avLst>
                <a:gd name="adj" fmla="val 10000"/>
              </a:avLst>
            </a:prstGeom>
            <a:solidFill>
              <a:srgbClr val="0D3B66"/>
            </a:solidFill>
            <a:ln w="11430">
              <a:solidFill>
                <a:srgbClr val="58A6FF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998561" y="3709035"/>
              <a:ext cx="862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LangGraph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956887" y="3942874"/>
              <a:ext cx="9457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Agent 编排引擎</a:t>
              </a:r>
            </a:p>
          </p:txBody>
        </p:sp>
      </p:grpSp>
      <p:sp>
        <p:nvSpPr>
          <p:cNvPr id="106" name="Line 106"/>
          <p:cNvSpPr/>
          <p:nvPr/>
        </p:nvSpPr>
        <p:spPr>
          <a:xfrm>
            <a:off x="6076950" y="3886200"/>
            <a:ext cx="2590800" cy="19050"/>
          </a:xfrm>
          <a:custGeom>
            <a:avLst/>
            <a:gdLst/>
            <a:ahLst/>
            <a:cxnLst/>
            <a:rect l="l" t="t" r="r" b="b"/>
            <a:pathLst>
              <a:path w="2590800" h="19050">
                <a:moveTo>
                  <a:pt x="0" y="19050"/>
                </a:moveTo>
                <a:lnTo>
                  <a:pt x="2590800" y="0"/>
                </a:lnTo>
              </a:path>
            </a:pathLst>
          </a:custGeom>
          <a:noFill/>
          <a:ln w="7620">
            <a:solidFill>
              <a:srgbClr val="58A6FF">
                <a:alpha val="30000"/>
              </a:srgbClr>
            </a:solidFill>
          </a:ln>
        </p:spPr>
      </p:sp>
      <p:sp>
        <p:nvSpPr>
          <p:cNvPr id="107" name="Polygon 107"/>
          <p:cNvSpPr/>
          <p:nvPr/>
        </p:nvSpPr>
        <p:spPr>
          <a:xfrm>
            <a:off x="6019800" y="420052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762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3FB950">
              <a:alpha val="50000"/>
            </a:srgbClr>
          </a:solidFill>
          <a:ln>
            <a:noFill/>
          </a:ln>
        </p:spPr>
      </p:sp>
      <p:sp>
        <p:nvSpPr>
          <p:cNvPr id="108" name="Line 108"/>
          <p:cNvSpPr/>
          <p:nvPr/>
        </p:nvSpPr>
        <p:spPr>
          <a:xfrm>
            <a:off x="6096000" y="42100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3FB950">
                <a:alpha val="40000"/>
              </a:srgbClr>
            </a:solidFill>
          </a:ln>
        </p:spPr>
      </p:sp>
      <p:sp>
        <p:nvSpPr>
          <p:cNvPr id="109" name="Rectangle 109"/>
          <p:cNvSpPr/>
          <p:nvPr/>
        </p:nvSpPr>
        <p:spPr>
          <a:xfrm>
            <a:off x="476250" y="4419600"/>
            <a:ext cx="11239500" cy="85725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7620">
            <a:solidFill>
              <a:srgbClr val="D29922"/>
            </a:solidFill>
          </a:ln>
        </p:spPr>
      </p:sp>
      <p:sp>
        <p:nvSpPr>
          <p:cNvPr id="110" name="Rectangle 110"/>
          <p:cNvSpPr/>
          <p:nvPr/>
        </p:nvSpPr>
        <p:spPr>
          <a:xfrm>
            <a:off x="476250" y="4419600"/>
            <a:ext cx="11239500" cy="85725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D29922">
                  <a:alpha val="12000"/>
                </a:srgbClr>
              </a:gs>
              <a:gs pos="100000">
                <a:srgbClr val="D29922">
                  <a:alpha val="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11" name="Rectangle 111"/>
          <p:cNvSpPr/>
          <p:nvPr/>
        </p:nvSpPr>
        <p:spPr>
          <a:xfrm>
            <a:off x="476250" y="4419600"/>
            <a:ext cx="38100" cy="85725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17982" y="4440555"/>
            <a:ext cx="110204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D29922"/>
                </a:solidFill>
                <a:latin typeface="Arial"/>
                <a:ea typeface="Arial"/>
                <a:cs typeface="Arial"/>
              </a:rPr>
              <a:t>Layer 4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610106" y="447294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数据与知识基础层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628650" y="4810125"/>
            <a:ext cx="11245977" cy="304800"/>
            <a:chOff x="628650" y="4810125"/>
            <a:chExt cx="11245977" cy="304800"/>
          </a:xfrm>
        </p:grpSpPr>
        <p:sp>
          <p:nvSpPr>
            <p:cNvPr id="114" name="Rectangle 114"/>
            <p:cNvSpPr/>
            <p:nvPr/>
          </p:nvSpPr>
          <p:spPr>
            <a:xfrm>
              <a:off x="628650" y="4810125"/>
              <a:ext cx="1905000" cy="304800"/>
            </a:xfrm>
            <a:prstGeom prst="roundRect">
              <a:avLst>
                <a:gd name="adj" fmla="val 125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68214" y="4888706"/>
              <a:ext cx="1025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🐘 PostgreSQL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2724150" y="4810125"/>
              <a:ext cx="1905000" cy="304800"/>
            </a:xfrm>
            <a:prstGeom prst="roundRect">
              <a:avLst>
                <a:gd name="adj" fmla="val 125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121152" y="4888706"/>
              <a:ext cx="1110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⏱️ TimescaleDB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819650" y="4810125"/>
              <a:ext cx="1905000" cy="304800"/>
            </a:xfrm>
            <a:prstGeom prst="roundRect">
              <a:avLst>
                <a:gd name="adj" fmla="val 125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498402" y="4888706"/>
              <a:ext cx="547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🔢 FAISS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138035" y="4888706"/>
              <a:ext cx="4736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| 电厂时序数据 · 历史报警记录 · 故障案例库 · 运行规程 · 设备知识库</a:t>
              </a:r>
            </a:p>
          </p:txBody>
        </p:sp>
      </p:grpSp>
      <p:sp>
        <p:nvSpPr>
          <p:cNvPr id="122" name="Polygon 122"/>
          <p:cNvSpPr/>
          <p:nvPr/>
        </p:nvSpPr>
        <p:spPr>
          <a:xfrm>
            <a:off x="6019800" y="522922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762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D29922">
              <a:alpha val="50000"/>
            </a:srgbClr>
          </a:solidFill>
          <a:ln>
            <a:noFill/>
          </a:ln>
        </p:spPr>
      </p:sp>
      <p:sp>
        <p:nvSpPr>
          <p:cNvPr id="123" name="Line 123"/>
          <p:cNvSpPr/>
          <p:nvPr/>
        </p:nvSpPr>
        <p:spPr>
          <a:xfrm>
            <a:off x="6096000" y="52387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D29922">
                <a:alpha val="40000"/>
              </a:srgbClr>
            </a:solidFill>
          </a:ln>
        </p:spPr>
      </p:sp>
      <p:sp>
        <p:nvSpPr>
          <p:cNvPr id="124" name="Rectangle 124"/>
          <p:cNvSpPr/>
          <p:nvPr/>
        </p:nvSpPr>
        <p:spPr>
          <a:xfrm>
            <a:off x="476250" y="5448300"/>
            <a:ext cx="11239500" cy="609600"/>
          </a:xfrm>
          <a:prstGeom prst="roundRect">
            <a:avLst>
              <a:gd name="adj" fmla="val 9375"/>
            </a:avLst>
          </a:prstGeom>
          <a:solidFill>
            <a:srgbClr val="161B22"/>
          </a:solidFill>
          <a:ln w="7620">
            <a:solidFill>
              <a:srgbClr val="F85149"/>
            </a:solidFill>
          </a:ln>
        </p:spPr>
      </p:sp>
      <p:sp>
        <p:nvSpPr>
          <p:cNvPr id="125" name="Rectangle 125"/>
          <p:cNvSpPr/>
          <p:nvPr/>
        </p:nvSpPr>
        <p:spPr>
          <a:xfrm>
            <a:off x="476250" y="5448300"/>
            <a:ext cx="11239500" cy="38100"/>
          </a:xfrm>
          <a:prstGeom prst="roundRect">
            <a:avLst>
              <a:gd name="adj" fmla="val 50000"/>
            </a:avLst>
          </a:prstGeom>
          <a:solidFill>
            <a:srgbClr val="F85149">
              <a:alpha val="50000"/>
            </a:srgbClr>
          </a:solidFill>
          <a:ln>
            <a:noFill/>
          </a:ln>
        </p:spPr>
      </p:sp>
      <p:sp>
        <p:nvSpPr>
          <p:cNvPr id="126" name="Rectangle 126"/>
          <p:cNvSpPr/>
          <p:nvPr/>
        </p:nvSpPr>
        <p:spPr>
          <a:xfrm>
            <a:off x="476250" y="5448300"/>
            <a:ext cx="38100" cy="6096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127" name="TextBox 127"/>
          <p:cNvSpPr txBox="1"/>
          <p:nvPr/>
        </p:nvSpPr>
        <p:spPr>
          <a:xfrm>
            <a:off x="621030" y="5534025"/>
            <a:ext cx="1343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5149"/>
                </a:solidFill>
                <a:latin typeface="Arial"/>
                <a:ea typeface="Microsoft YaHei"/>
                <a:cs typeface="Arial"/>
              </a:rPr>
              <a:t>Web 监盘系统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183892" y="5550218"/>
            <a:ext cx="39042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Vue3 + ECharts · 8大功能页面 · 人机协同闭环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748686" y="5795010"/>
            <a:ext cx="66946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AI交互窗口 | 实时监控 | 趋势分析 | 报警中心 | 故障诊断 | 历史统计 | 日志追溯 | 自动报告</a:t>
            </a:r>
          </a:p>
        </p:txBody>
      </p:sp>
      <p:sp>
        <p:nvSpPr>
          <p:cNvPr id="130" name="Line 130"/>
          <p:cNvSpPr/>
          <p:nvPr/>
        </p:nvSpPr>
        <p:spPr>
          <a:xfrm>
            <a:off x="247650" y="1152525"/>
            <a:ext cx="9525" cy="4600575"/>
          </a:xfrm>
          <a:custGeom>
            <a:avLst/>
            <a:gdLst/>
            <a:ahLst/>
            <a:cxnLst/>
            <a:rect l="l" t="t" r="r" b="b"/>
            <a:pathLst>
              <a:path w="9525" h="4600575">
                <a:moveTo>
                  <a:pt x="0" y="0"/>
                </a:moveTo>
                <a:lnTo>
                  <a:pt x="0" y="4600575"/>
                </a:lnTo>
              </a:path>
            </a:pathLst>
          </a:custGeom>
          <a:noFill/>
          <a:ln w="14288">
            <a:solidFill>
              <a:srgbClr val="58A6FF">
                <a:alpha val="30000"/>
              </a:srgbClr>
            </a:solidFill>
            <a:prstDash val="dash"/>
          </a:ln>
        </p:spPr>
      </p:sp>
      <p:sp>
        <p:nvSpPr>
          <p:cNvPr id="131" name="TextBox 131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552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32065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智能交互 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314325"/>
            <a:ext cx="41250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模块1 · 三入口统一 · LangGraph 全自动编排</a:t>
            </a:r>
          </a:p>
        </p:txBody>
      </p:sp>
      <p:sp>
        <p:nvSpPr>
          <p:cNvPr id="9" name="Line 9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57250"/>
            <a:ext cx="4762500" cy="161925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 w="7620">
            <a:solidFill>
              <a:srgbClr val="58A6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76250" y="857250"/>
            <a:ext cx="38100" cy="16192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5132" y="9353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方式一：文本输入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79704" y="1333500"/>
            <a:ext cx="4311396" cy="1049018"/>
            <a:chOff x="679704" y="1333500"/>
            <a:chExt cx="4311396" cy="1049018"/>
          </a:xfrm>
        </p:grpSpPr>
        <p:sp>
          <p:nvSpPr>
            <p:cNvPr id="13" name="Rectangle 13"/>
            <p:cNvSpPr/>
            <p:nvPr/>
          </p:nvSpPr>
          <p:spPr>
            <a:xfrm>
              <a:off x="685800" y="1333500"/>
              <a:ext cx="430530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4954" y="1423035"/>
              <a:ext cx="3041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"分析2号机组过去24小时主蒸汽温度异常"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" y="1823085"/>
              <a:ext cx="3657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↓ 自然语言 → DeepSeek LLM 意图解析 → 参数抽取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2092642"/>
              <a:ext cx="4305300" cy="285750"/>
            </a:xfrm>
            <a:prstGeom prst="roundRect">
              <a:avLst>
                <a:gd name="adj" fmla="val 10000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1911" y="2080897"/>
              <a:ext cx="4053078" cy="3016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8A6FF"/>
                  </a:solidFill>
                  <a:latin typeface="Consolas"/>
                  <a:ea typeface="Microsoft YaHei"/>
                  <a:cs typeface="Consolas"/>
                </a:rPr>
                <a:t>{ device: "2号机组", parameter: "steam_temp", time: "24h", threshold: 550 }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476250" y="2619375"/>
            <a:ext cx="476250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7620">
            <a:solidFill>
              <a:srgbClr val="3FB95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76250" y="2619375"/>
            <a:ext cx="38100" cy="11430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5132" y="2697480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方式二：语音输入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78942" y="3067050"/>
            <a:ext cx="4030572" cy="596837"/>
            <a:chOff x="678942" y="3067050"/>
            <a:chExt cx="4030572" cy="596837"/>
          </a:xfrm>
        </p:grpSpPr>
        <p:sp>
          <p:nvSpPr>
            <p:cNvPr id="22" name="TextBox 22"/>
            <p:cNvSpPr txBox="1"/>
            <p:nvPr/>
          </p:nvSpPr>
          <p:spPr>
            <a:xfrm>
              <a:off x="678942" y="3073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语音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26642" y="30737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71625" y="3067050"/>
              <a:ext cx="1524000" cy="228600"/>
            </a:xfrm>
            <a:prstGeom prst="roundRect">
              <a:avLst>
                <a:gd name="adj" fmla="val 12500"/>
              </a:avLst>
            </a:prstGeom>
            <a:solidFill>
              <a:srgbClr val="1C2333"/>
            </a:solidFill>
            <a:ln w="4762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75460" y="3123724"/>
              <a:ext cx="11163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B950"/>
                  </a:solidFill>
                  <a:latin typeface="Consolas"/>
                  <a:ea typeface="Consolas"/>
                  <a:cs typeface="Consolas"/>
                </a:rPr>
                <a:t>Whisper / FunASR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31642" y="30737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03092" y="3073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文本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93642" y="30737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65092" y="30737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466" y="345852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支持中文语音识别，低延迟转写，适应工业噪声环境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476250" y="3905250"/>
            <a:ext cx="4762500" cy="123825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7620">
            <a:solidFill>
              <a:srgbClr val="D29922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76250" y="390525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5132" y="39833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方式三：快捷指令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80466" y="4362450"/>
            <a:ext cx="4186809" cy="682561"/>
            <a:chOff x="680466" y="4362450"/>
            <a:chExt cx="4186809" cy="682561"/>
          </a:xfrm>
        </p:grpSpPr>
        <p:sp>
          <p:nvSpPr>
            <p:cNvPr id="35" name="Rectangle 35"/>
            <p:cNvSpPr/>
            <p:nvPr/>
          </p:nvSpPr>
          <p:spPr>
            <a:xfrm>
              <a:off x="685800" y="436245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4014" y="4449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趋势分析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62125" y="436245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50339" y="4449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异常诊断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38450" y="436245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026664" y="4449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生成报告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914775" y="4362450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02989" y="4449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历史报警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0466" y="4839652"/>
              <a:ext cx="3834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前端预设按钮，一键触发Agent工作流，零输入门槛快速响应</a:t>
              </a:r>
            </a:p>
          </p:txBody>
        </p:sp>
      </p:grpSp>
      <p:sp>
        <p:nvSpPr>
          <p:cNvPr id="45" name="Polygon 45"/>
          <p:cNvSpPr/>
          <p:nvPr/>
        </p:nvSpPr>
        <p:spPr>
          <a:xfrm>
            <a:off x="2781300" y="509587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762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BC8CFF">
              <a:alpha val="60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1143000" y="5219700"/>
            <a:ext cx="3429000" cy="1009650"/>
          </a:xfrm>
          <a:prstGeom prst="roundRect">
            <a:avLst>
              <a:gd name="adj" fmla="val 7547"/>
            </a:avLst>
          </a:prstGeom>
          <a:solidFill>
            <a:srgbClr val="161B22"/>
          </a:solidFill>
          <a:ln w="14288">
            <a:solidFill>
              <a:srgbClr val="BC8CFF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1143000" y="52197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264621" y="5311140"/>
            <a:ext cx="318575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LangGraph Agent 控制中心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633216" y="5669756"/>
            <a:ext cx="2366004" cy="505778"/>
            <a:chOff x="1633216" y="5669756"/>
            <a:chExt cx="2366004" cy="505778"/>
          </a:xfrm>
        </p:grpSpPr>
        <p:sp>
          <p:nvSpPr>
            <p:cNvPr id="49" name="TextBox 49"/>
            <p:cNvSpPr txBox="1"/>
            <p:nvPr/>
          </p:nvSpPr>
          <p:spPr>
            <a:xfrm>
              <a:off x="1633216" y="5669756"/>
              <a:ext cx="829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Intent 识别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358515" y="5669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参数抽取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39265" y="59555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任务规划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335030" y="5955506"/>
              <a:ext cx="664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Tool 调用</a:t>
              </a:r>
            </a:p>
          </p:txBody>
        </p:sp>
      </p:grpSp>
      <p:sp>
        <p:nvSpPr>
          <p:cNvPr id="54" name="Rectangle 54"/>
          <p:cNvSpPr/>
          <p:nvPr/>
        </p:nvSpPr>
        <p:spPr>
          <a:xfrm>
            <a:off x="5715000" y="857250"/>
            <a:ext cx="6000750" cy="2667000"/>
          </a:xfrm>
          <a:prstGeom prst="roundRect">
            <a:avLst>
              <a:gd name="adj" fmla="val 2143"/>
            </a:avLst>
          </a:prstGeom>
          <a:solidFill>
            <a:srgbClr val="161B22"/>
          </a:solidFill>
          <a:ln w="4762">
            <a:solidFill>
              <a:srgbClr val="30363D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990082" y="963930"/>
            <a:ext cx="213772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Agent 处理流程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000750" y="1381125"/>
            <a:ext cx="3476625" cy="2009775"/>
            <a:chOff x="6000750" y="1381125"/>
            <a:chExt cx="3476625" cy="2009775"/>
          </a:xfrm>
        </p:grpSpPr>
        <p:sp>
          <p:nvSpPr>
            <p:cNvPr id="56" name="Rectangle 56"/>
            <p:cNvSpPr/>
            <p:nvPr/>
          </p:nvSpPr>
          <p:spPr>
            <a:xfrm>
              <a:off x="6000750" y="138112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8293" y="14925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1. 输入解析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0988" y="1744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自然语言理解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88580" y="1552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58125" y="138112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45668" y="14925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2. 意图识别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38363" y="1744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任务分类匹配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47224" y="19812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04599" y="19812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00750" y="226695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BC8CFF">
                  <a:alpha val="5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88293" y="237839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3. 参数抽取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01791" y="2629852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JSON结构化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88580" y="24384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858125" y="226695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143215" y="2378392"/>
              <a:ext cx="1049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4. Tool调用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38363" y="2629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工具选择执行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33049" y="2981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67500" y="3028950"/>
              <a:ext cx="2057400" cy="361950"/>
            </a:xfrm>
            <a:prstGeom prst="roundRect">
              <a:avLst>
                <a:gd name="adj" fmla="val 15789"/>
              </a:avLst>
            </a:prstGeom>
            <a:solidFill>
              <a:srgbClr val="0D3B66"/>
            </a:solidFill>
            <a:ln w="9525">
              <a:solidFill>
                <a:srgbClr val="58A6F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97058" y="3121342"/>
              <a:ext cx="1998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5. 结果解释与状态更新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990082" y="3630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核心技术栈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6000750" y="4019550"/>
            <a:ext cx="5715000" cy="952500"/>
            <a:chOff x="6000750" y="4019550"/>
            <a:chExt cx="5715000" cy="952500"/>
          </a:xfrm>
        </p:grpSpPr>
        <p:sp>
          <p:nvSpPr>
            <p:cNvPr id="77" name="Rectangle 77"/>
            <p:cNvSpPr/>
            <p:nvPr/>
          </p:nvSpPr>
          <p:spPr>
            <a:xfrm>
              <a:off x="6000750" y="4019550"/>
              <a:ext cx="2667000" cy="952500"/>
            </a:xfrm>
            <a:prstGeom prst="roundRect">
              <a:avLst>
                <a:gd name="adj" fmla="val 6000"/>
              </a:avLst>
            </a:prstGeom>
            <a:solidFill>
              <a:srgbClr val="161B22"/>
            </a:solidFill>
            <a:ln w="7620">
              <a:solidFill>
                <a:srgbClr val="58A6FF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000750" y="40195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85535" y="4164806"/>
              <a:ext cx="817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🤖 DeepSeek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185916" y="43824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大语言模型驱动，意图理解与推理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185916" y="45920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支持复杂工业语境下的自然语言交互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953500" y="4019550"/>
              <a:ext cx="2762250" cy="952500"/>
            </a:xfrm>
            <a:prstGeom prst="roundRect">
              <a:avLst>
                <a:gd name="adj" fmla="val 6000"/>
              </a:avLst>
            </a:prstGeom>
            <a:solidFill>
              <a:srgbClr val="161B22"/>
            </a:solidFill>
            <a:ln w="7620">
              <a:solidFill>
                <a:srgbClr val="3FB950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8953500" y="4019550"/>
              <a:ext cx="276225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138285" y="4164806"/>
              <a:ext cx="900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B950"/>
                  </a:solidFill>
                  <a:latin typeface="Arial"/>
                  <a:ea typeface="Arial"/>
                  <a:cs typeface="Arial"/>
                </a:rPr>
                <a:t>🔧 LangGraph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38666" y="4382452"/>
              <a:ext cx="1976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Agent控制流编排，状态图管理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138666" y="45920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多步骤任务协调，异常处理与回退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000750" y="5143500"/>
            <a:ext cx="5897861" cy="1000125"/>
            <a:chOff x="6000750" y="5143500"/>
            <a:chExt cx="5897861" cy="1000125"/>
          </a:xfrm>
        </p:grpSpPr>
        <p:sp>
          <p:nvSpPr>
            <p:cNvPr id="88" name="Rectangle 88"/>
            <p:cNvSpPr/>
            <p:nvPr/>
          </p:nvSpPr>
          <p:spPr>
            <a:xfrm>
              <a:off x="6000750" y="5143500"/>
              <a:ext cx="2667000" cy="1000125"/>
            </a:xfrm>
            <a:prstGeom prst="roundRect">
              <a:avLst>
                <a:gd name="adj" fmla="val 5714"/>
              </a:avLst>
            </a:prstGeom>
            <a:solidFill>
              <a:srgbClr val="161B22"/>
            </a:solidFill>
            <a:ln w="7620">
              <a:solidFill>
                <a:srgbClr val="D29922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000750" y="514350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85535" y="5288756"/>
              <a:ext cx="1419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29922"/>
                  </a:solidFill>
                  <a:latin typeface="Arial"/>
                  <a:ea typeface="Arial"/>
                  <a:cs typeface="Arial"/>
                </a:rPr>
                <a:t>🎤 Whisper / FunASR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185916" y="55064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语音转录引擎，支持中文识别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85916" y="57159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适应工业现场噪声环境的鲁棒识别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953500" y="5143500"/>
              <a:ext cx="2762250" cy="1000125"/>
            </a:xfrm>
            <a:prstGeom prst="roundRect">
              <a:avLst>
                <a:gd name="adj" fmla="val 5714"/>
              </a:avLst>
            </a:prstGeom>
            <a:solidFill>
              <a:srgbClr val="161B22"/>
            </a:solidFill>
            <a:ln w="7620">
              <a:solidFill>
                <a:srgbClr val="BC8CFF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8953500" y="5143500"/>
              <a:ext cx="2762250" cy="38100"/>
            </a:xfrm>
            <a:prstGeom prst="roundRect">
              <a:avLst>
                <a:gd name="adj" fmla="val 50000"/>
              </a:avLst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138285" y="5288756"/>
              <a:ext cx="745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⚡ 快捷指令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38666" y="5506402"/>
              <a:ext cx="1976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前端预设Agent工作流触发按钮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38666" y="57159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趋势分析 · 异常诊断 · 报告生成 · 历史报警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40393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数据管理与趋势分析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5380" y="314325"/>
            <a:ext cx="29533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模块2 &amp; 3 · 混合存储 · 多维钻取</a:t>
            </a:r>
          </a:p>
        </p:txBody>
      </p:sp>
      <p:sp>
        <p:nvSpPr>
          <p:cNvPr id="9" name="Line 9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38200"/>
            <a:ext cx="561975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58A6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76250" y="838200"/>
            <a:ext cx="5619750" cy="381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1332" y="935355"/>
            <a:ext cx="285613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模块2：工业数据管理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1280160"/>
            <a:ext cx="31229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PostgreSQL + TimescaleDB 混合存储架构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5143500" cy="1762125"/>
          </a:xfrm>
          <a:prstGeom prst="roundRect">
            <a:avLst>
              <a:gd name="adj" fmla="val 2703"/>
            </a:avLst>
          </a:prstGeom>
          <a:solidFill>
            <a:srgbClr val="1C2333"/>
          </a:solidFill>
          <a:ln w="4762">
            <a:solidFill>
              <a:srgbClr val="30363D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4880" y="1666875"/>
            <a:ext cx="29857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🐘 PostgreSQL — 关系数据核心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52500" y="1981200"/>
            <a:ext cx="4752975" cy="495300"/>
            <a:chOff x="952500" y="1981200"/>
            <a:chExt cx="4752975" cy="495300"/>
          </a:xfrm>
        </p:grpSpPr>
        <p:sp>
          <p:nvSpPr>
            <p:cNvPr id="16" name="Rectangle 16"/>
            <p:cNvSpPr/>
            <p:nvPr/>
          </p:nvSpPr>
          <p:spPr>
            <a:xfrm>
              <a:off x="952500" y="1981200"/>
              <a:ext cx="1095375" cy="495300"/>
            </a:xfrm>
            <a:prstGeom prst="roundRect">
              <a:avLst>
                <a:gd name="adj" fmla="val 7692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7414" y="2077402"/>
              <a:ext cx="916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device_table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8540" y="229219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设备信息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71700" y="1981200"/>
              <a:ext cx="1095375" cy="495300"/>
            </a:xfrm>
            <a:prstGeom prst="roundRect">
              <a:avLst>
                <a:gd name="adj" fmla="val 7692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38062" y="2077402"/>
              <a:ext cx="953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sensor_table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2209" y="2292191"/>
              <a:ext cx="5648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传感器配置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90900" y="1981200"/>
              <a:ext cx="1095375" cy="495300"/>
            </a:xfrm>
            <a:prstGeom prst="roundRect">
              <a:avLst>
                <a:gd name="adj" fmla="val 7692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01788" y="2077402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alarm_table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6940" y="229219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报警历史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10100" y="1981200"/>
              <a:ext cx="1095375" cy="495300"/>
            </a:xfrm>
            <a:prstGeom prst="roundRect">
              <a:avLst>
                <a:gd name="adj" fmla="val 7692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76462" y="2077402"/>
              <a:ext cx="953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report_table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26139" y="229219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分析报告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44880" y="2600325"/>
            <a:ext cx="2663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⏱️ TimescaleDB — 时序超表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52500" y="2905125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1C2333"/>
          </a:solidFill>
          <a:ln w="4762">
            <a:solidFill>
              <a:srgbClr val="3FB950">
                <a:alpha val="5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787372" y="2999899"/>
            <a:ext cx="10927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timeseries_table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4380" y="34385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数据能力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3733800"/>
            <a:ext cx="5095875" cy="342900"/>
            <a:chOff x="762000" y="3733800"/>
            <a:chExt cx="5095875" cy="342900"/>
          </a:xfrm>
        </p:grpSpPr>
        <p:sp>
          <p:nvSpPr>
            <p:cNvPr id="33" name="Rectangle 33"/>
            <p:cNvSpPr/>
            <p:nvPr/>
          </p:nvSpPr>
          <p:spPr>
            <a:xfrm>
              <a:off x="762000" y="3733800"/>
              <a:ext cx="247650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40193" y="37838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实时数据查询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81375" y="3733800"/>
              <a:ext cx="247650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59568" y="37838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历史数据查询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4171950"/>
            <a:ext cx="5095875" cy="342900"/>
            <a:chOff x="762000" y="4171950"/>
            <a:chExt cx="5095875" cy="342900"/>
          </a:xfrm>
        </p:grpSpPr>
        <p:sp>
          <p:nvSpPr>
            <p:cNvPr id="38" name="Rectangle 38"/>
            <p:cNvSpPr/>
            <p:nvPr/>
          </p:nvSpPr>
          <p:spPr>
            <a:xfrm>
              <a:off x="762000" y="4171950"/>
              <a:ext cx="247650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64469" y="4221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多设备并行查询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381375" y="4171950"/>
              <a:ext cx="247650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59568" y="42219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时间窗口查询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4380" y="46767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数据源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46785" y="5003006"/>
            <a:ext cx="3301365" cy="715328"/>
            <a:chOff x="946785" y="5003006"/>
            <a:chExt cx="3301365" cy="715328"/>
          </a:xfrm>
        </p:grpSpPr>
        <p:sp>
          <p:nvSpPr>
            <p:cNvPr id="44" name="TextBox 44"/>
            <p:cNvSpPr txBox="1"/>
            <p:nvPr/>
          </p:nvSpPr>
          <p:spPr>
            <a:xfrm>
              <a:off x="946785" y="500300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电厂模拟时序数据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785" y="52506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历史报警记录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28035" y="50030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故障案例库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28035" y="52506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电厂运行规程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785" y="54983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设备知识库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6286500" y="838200"/>
            <a:ext cx="542925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3FB95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286500" y="838200"/>
            <a:ext cx="5429250" cy="381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61582" y="935355"/>
            <a:ext cx="22624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模块3：趋势分析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128016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多维度时序数据可视化与数据钻取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572250" y="1571625"/>
            <a:ext cx="4953000" cy="1714500"/>
          </a:xfrm>
          <a:prstGeom prst="roundRect">
            <a:avLst>
              <a:gd name="adj" fmla="val 2778"/>
            </a:avLst>
          </a:prstGeom>
          <a:solidFill>
            <a:srgbClr val="1C2333"/>
          </a:solidFill>
          <a:ln w="4762">
            <a:solidFill>
              <a:srgbClr val="30363D"/>
            </a:solidFill>
          </a:ln>
        </p:spPr>
      </p:sp>
      <p:grpSp>
        <p:nvGrpSpPr>
          <p:cNvPr id="75" name="Group 75"/>
          <p:cNvGrpSpPr/>
          <p:nvPr/>
        </p:nvGrpSpPr>
        <p:grpSpPr>
          <a:xfrm>
            <a:off x="6446977" y="1574006"/>
            <a:ext cx="5045245" cy="1508760"/>
            <a:chOff x="6446977" y="1574006"/>
            <a:chExt cx="5045245" cy="1508760"/>
          </a:xfrm>
        </p:grpSpPr>
        <p:sp>
          <p:nvSpPr>
            <p:cNvPr id="55" name="Rectangle 55"/>
            <p:cNvSpPr/>
            <p:nvPr/>
          </p:nvSpPr>
          <p:spPr>
            <a:xfrm>
              <a:off x="6762750" y="1762125"/>
              <a:ext cx="4572000" cy="1143000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762750" y="1971675"/>
              <a:ext cx="4572000" cy="847725"/>
              <a:chOff x="6762750" y="1971675"/>
              <a:chExt cx="4572000" cy="847725"/>
            </a:xfrm>
          </p:grpSpPr>
          <p:sp>
            <p:nvSpPr>
              <p:cNvPr id="56" name="Line 56"/>
              <p:cNvSpPr/>
              <p:nvPr/>
            </p:nvSpPr>
            <p:spPr>
              <a:xfrm>
                <a:off x="6762750" y="197167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4762">
                <a:solidFill>
                  <a:srgbClr val="21262D">
                    <a:alpha val="50000"/>
                  </a:srgbClr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6762750" y="218122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4762">
                <a:solidFill>
                  <a:srgbClr val="21262D">
                    <a:alpha val="50000"/>
                  </a:srgbClr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6762750" y="239077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4762">
                <a:solidFill>
                  <a:srgbClr val="21262D">
                    <a:alpha val="50000"/>
                  </a:srgbClr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6762750" y="260032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4762">
                <a:solidFill>
                  <a:srgbClr val="21262D">
                    <a:alpha val="50000"/>
                  </a:srgbClr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762750" y="2809875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4762">
                <a:solidFill>
                  <a:srgbClr val="21262D">
                    <a:alpha val="50000"/>
                  </a:srgbClr>
                </a:solidFill>
              </a:ln>
            </p:spPr>
          </p:sp>
        </p:grpSp>
        <p:sp>
          <p:nvSpPr>
            <p:cNvPr id="62" name="Polyline 62"/>
            <p:cNvSpPr/>
            <p:nvPr/>
          </p:nvSpPr>
          <p:spPr>
            <a:xfrm>
              <a:off x="6781800" y="2114550"/>
              <a:ext cx="4533900" cy="647700"/>
            </a:xfrm>
            <a:custGeom>
              <a:avLst/>
              <a:gdLst/>
              <a:ahLst/>
              <a:cxnLst/>
              <a:rect l="l" t="t" r="r" b="b"/>
              <a:pathLst>
                <a:path w="4533900" h="647700">
                  <a:moveTo>
                    <a:pt x="0" y="600075"/>
                  </a:moveTo>
                  <a:lnTo>
                    <a:pt x="361950" y="476250"/>
                  </a:lnTo>
                  <a:lnTo>
                    <a:pt x="742950" y="504825"/>
                  </a:lnTo>
                  <a:lnTo>
                    <a:pt x="1123950" y="438150"/>
                  </a:lnTo>
                  <a:lnTo>
                    <a:pt x="1504950" y="409575"/>
                  </a:lnTo>
                  <a:lnTo>
                    <a:pt x="1885950" y="552450"/>
                  </a:lnTo>
                  <a:lnTo>
                    <a:pt x="2266950" y="647700"/>
                  </a:lnTo>
                  <a:lnTo>
                    <a:pt x="2647950" y="361950"/>
                  </a:lnTo>
                  <a:lnTo>
                    <a:pt x="3028950" y="247650"/>
                  </a:lnTo>
                  <a:lnTo>
                    <a:pt x="3409950" y="123825"/>
                  </a:lnTo>
                  <a:lnTo>
                    <a:pt x="3790950" y="28575"/>
                  </a:lnTo>
                  <a:lnTo>
                    <a:pt x="4171950" y="76200"/>
                  </a:lnTo>
                  <a:lnTo>
                    <a:pt x="4533900" y="0"/>
                  </a:lnTo>
                </a:path>
              </a:pathLst>
            </a:custGeom>
            <a:noFill/>
            <a:ln w="19050">
              <a:solidFill>
                <a:srgbClr val="58A6FF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144125" y="2190750"/>
              <a:ext cx="95250" cy="95250"/>
            </a:xfrm>
            <a:prstGeom prst="ellipse">
              <a:avLst/>
            </a:prstGeom>
            <a:solidFill>
              <a:srgbClr val="F85149">
                <a:alpha val="90000"/>
              </a:srgbClr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096500" y="2143125"/>
              <a:ext cx="190500" cy="190500"/>
            </a:xfrm>
            <a:prstGeom prst="ellipse">
              <a:avLst/>
            </a:prstGeom>
            <a:noFill/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46977" y="1815941"/>
              <a:ext cx="253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560℃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6977" y="2273141"/>
              <a:ext cx="253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540℃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6977" y="2730341"/>
              <a:ext cx="253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520℃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05278" y="2920841"/>
              <a:ext cx="314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00:00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8278" y="2920841"/>
              <a:ext cx="314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06:00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91278" y="2920841"/>
              <a:ext cx="314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12:00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34278" y="2920841"/>
              <a:ext cx="314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18:00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177278" y="2920841"/>
              <a:ext cx="314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8B949E"/>
                  </a:solidFill>
                  <a:latin typeface="Consolas"/>
                  <a:ea typeface="Consolas"/>
                  <a:cs typeface="Consolas"/>
                </a:rPr>
                <a:t>24:00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52613" y="1574006"/>
              <a:ext cx="2192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过去24小时 主蒸汽温度变化曲线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86988" y="20745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异常点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564630" y="340995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数据钻取能力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6572250" y="3762375"/>
            <a:ext cx="4953000" cy="885825"/>
            <a:chOff x="6572250" y="3762375"/>
            <a:chExt cx="4953000" cy="885825"/>
          </a:xfrm>
        </p:grpSpPr>
        <p:sp>
          <p:nvSpPr>
            <p:cNvPr id="77" name="Rectangle 77"/>
            <p:cNvSpPr/>
            <p:nvPr/>
          </p:nvSpPr>
          <p:spPr>
            <a:xfrm>
              <a:off x="6572250" y="3762375"/>
              <a:ext cx="15240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04863" y="38966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小时趋势概览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37017" y="38642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382000" y="3762375"/>
              <a:ext cx="15240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9525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643938" y="38966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异常时间点定位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946767" y="38642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191750" y="376237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C2333"/>
            </a:solidFill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499789" y="38966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分钟级数据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563414" y="4235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382000" y="4305300"/>
              <a:ext cx="1905000" cy="342900"/>
            </a:xfrm>
            <a:prstGeom prst="roundRect">
              <a:avLst>
                <a:gd name="adj" fmla="val 11111"/>
              </a:avLst>
            </a:prstGeom>
            <a:solidFill>
              <a:srgbClr val="0D3B66"/>
            </a:solidFill>
            <a:ln w="9525">
              <a:solidFill>
                <a:srgbClr val="58A6FF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735492" y="44205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具体测点精确定位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6564630" y="47910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时段对比分析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6572250" y="5143500"/>
            <a:ext cx="5048250" cy="476250"/>
            <a:chOff x="6572250" y="5143500"/>
            <a:chExt cx="5048250" cy="476250"/>
          </a:xfrm>
        </p:grpSpPr>
        <p:sp>
          <p:nvSpPr>
            <p:cNvPr id="90" name="Rectangle 90"/>
            <p:cNvSpPr/>
            <p:nvPr/>
          </p:nvSpPr>
          <p:spPr>
            <a:xfrm>
              <a:off x="6572250" y="5143500"/>
              <a:ext cx="2286000" cy="476250"/>
            </a:xfrm>
            <a:prstGeom prst="roundRect">
              <a:avLst>
                <a:gd name="adj" fmla="val 8000"/>
              </a:avLst>
            </a:prstGeom>
            <a:solidFill>
              <a:srgbClr val="1C2333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19776" y="5220652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今天 14:00-16:00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270520" y="5427345"/>
              <a:ext cx="88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Current Period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23782" y="524827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D29922"/>
                  </a:solidFill>
                  <a:latin typeface="Arial"/>
                  <a:ea typeface="Arial"/>
                  <a:cs typeface="Arial"/>
                </a:rPr>
                <a:t>VS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9334500" y="5143500"/>
              <a:ext cx="2286000" cy="476250"/>
            </a:xfrm>
            <a:prstGeom prst="roundRect">
              <a:avLst>
                <a:gd name="adj" fmla="val 8000"/>
              </a:avLst>
            </a:prstGeom>
            <a:solidFill>
              <a:srgbClr val="1C2333"/>
            </a:solidFill>
            <a:ln w="4762">
              <a:solidFill>
                <a:srgbClr val="8B949E">
                  <a:alpha val="50000"/>
                </a:srgbClr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882026" y="5220652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昨天 14:00-16:00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966137" y="5427345"/>
              <a:ext cx="10227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Reference Period</a:t>
              </a:r>
            </a:p>
          </p:txBody>
        </p:sp>
      </p:grpSp>
      <p:sp>
        <p:nvSpPr>
          <p:cNvPr id="98" name="Rectangle 98"/>
          <p:cNvSpPr/>
          <p:nvPr/>
        </p:nvSpPr>
        <p:spPr>
          <a:xfrm>
            <a:off x="6572250" y="5791200"/>
            <a:ext cx="4953000" cy="381000"/>
          </a:xfrm>
          <a:prstGeom prst="roundRect">
            <a:avLst>
              <a:gd name="adj" fmla="val 10000"/>
            </a:avLst>
          </a:prstGeom>
          <a:solidFill>
            <a:srgbClr val="1C2333"/>
          </a:solidFill>
          <a:ln w="4762">
            <a:solidFill>
              <a:srgbClr val="3FB950">
                <a:alpha val="40000"/>
              </a:srgbClr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6806979" y="5915978"/>
            <a:ext cx="44835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💡 支持 LSTM / Prophet 双模型预测，时序超表保证亿级数据秒级查询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143000"/>
            <a:ext cx="12192000" cy="3438525"/>
            <a:chOff x="0" y="1143000"/>
            <a:chExt cx="12192000" cy="3438525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F8514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93598" y="1362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智能预警模块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02380" y="314325"/>
            <a:ext cx="34177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模块4 · 四策略融合 · 多维度风险量化</a:t>
            </a:r>
          </a:p>
        </p:txBody>
      </p:sp>
      <p:sp>
        <p:nvSpPr>
          <p:cNvPr id="8" name="Line 8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76250" y="857250"/>
            <a:ext cx="2667000" cy="200025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7620">
            <a:solidFill>
              <a:srgbClr val="F85149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5725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55904" y="1060132"/>
            <a:ext cx="2101596" cy="1641729"/>
            <a:chOff x="755904" y="1060132"/>
            <a:chExt cx="2101596" cy="1641729"/>
          </a:xfrm>
        </p:grpSpPr>
        <p:sp>
          <p:nvSpPr>
            <p:cNvPr id="11" name="TextBox 11"/>
            <p:cNvSpPr txBox="1"/>
            <p:nvPr/>
          </p:nvSpPr>
          <p:spPr>
            <a:xfrm>
              <a:off x="1235787" y="10601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① 阈值报警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1352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904" y="1508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固定阈值超限检测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809750"/>
              <a:ext cx="2095500" cy="342900"/>
            </a:xfrm>
            <a:prstGeom prst="roundRect">
              <a:avLst>
                <a:gd name="adj" fmla="val 11111"/>
              </a:avLst>
            </a:prstGeom>
            <a:solidFill>
              <a:srgbClr val="0D1117"/>
            </a:solidFill>
            <a:ln w="4762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3590" y="1916906"/>
              <a:ext cx="1412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85149"/>
                  </a:solidFill>
                  <a:latin typeface="Consolas"/>
                  <a:ea typeface="Consolas"/>
                  <a:cs typeface="Consolas"/>
                </a:rPr>
                <a:t>steam_temp &gt; 550℃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22679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适用场景：明确安全阈值参数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2496502"/>
              <a:ext cx="1431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响应速度：实时 (≤1s)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3333750" y="857250"/>
            <a:ext cx="2667000" cy="200025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7620">
            <a:solidFill>
              <a:srgbClr val="D2992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333750" y="85725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3613404" y="1060132"/>
            <a:ext cx="2101596" cy="1641729"/>
            <a:chOff x="3613404" y="1060132"/>
            <a:chExt cx="2101596" cy="1641729"/>
          </a:xfrm>
        </p:grpSpPr>
        <p:sp>
          <p:nvSpPr>
            <p:cNvPr id="21" name="TextBox 21"/>
            <p:cNvSpPr txBox="1"/>
            <p:nvPr/>
          </p:nvSpPr>
          <p:spPr>
            <a:xfrm>
              <a:off x="3860058" y="10601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② 变化速率报警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19500" y="1352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13404" y="15087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单位时间变化梯度检测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19500" y="1809750"/>
              <a:ext cx="2095500" cy="342900"/>
            </a:xfrm>
            <a:prstGeom prst="roundRect">
              <a:avLst>
                <a:gd name="adj" fmla="val 11111"/>
              </a:avLst>
            </a:prstGeom>
            <a:solidFill>
              <a:srgbClr val="0D1117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27683" y="1916906"/>
              <a:ext cx="1079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29922"/>
                  </a:solidFill>
                  <a:latin typeface="Consolas"/>
                  <a:ea typeface="Microsoft YaHei"/>
                  <a:cs typeface="Consolas"/>
                </a:rPr>
                <a:t>10分钟上涨 20℃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4166" y="2267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适用场景：快速劣化检测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166" y="2496502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计算窗口：1-60分钟可配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6191250" y="857250"/>
            <a:ext cx="2667000" cy="200025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7620">
            <a:solidFill>
              <a:srgbClr val="58A6FF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191250" y="85725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6470904" y="1060132"/>
            <a:ext cx="2131695" cy="1641729"/>
            <a:chOff x="6470904" y="1060132"/>
            <a:chExt cx="2131695" cy="1641729"/>
          </a:xfrm>
        </p:grpSpPr>
        <p:sp>
          <p:nvSpPr>
            <p:cNvPr id="31" name="TextBox 31"/>
            <p:cNvSpPr txBox="1"/>
            <p:nvPr/>
          </p:nvSpPr>
          <p:spPr>
            <a:xfrm>
              <a:off x="6717558" y="10601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③ 波动异常检测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77000" y="1352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0904" y="1508760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方差/周期异常分析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1809750"/>
              <a:ext cx="2095500" cy="342900"/>
            </a:xfrm>
            <a:prstGeom prst="roundRect">
              <a:avLst>
                <a:gd name="adj" fmla="val 11111"/>
              </a:avLst>
            </a:prstGeom>
            <a:solidFill>
              <a:srgbClr val="0D1117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26163" y="1916906"/>
              <a:ext cx="1397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Consolas"/>
                  <a:ea typeface="Microsoft YaHei"/>
                  <a:cs typeface="Consolas"/>
                </a:rPr>
                <a:t>振荡检测 + 周期变化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1666" y="22679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适用场景：传感器故障、控制震荡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1666" y="24965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算法：滑动窗口统计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9048750" y="857250"/>
            <a:ext cx="2667000" cy="200025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7620">
            <a:solidFill>
              <a:srgbClr val="3FB95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9048750" y="85725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9328404" y="1060132"/>
            <a:ext cx="2131695" cy="1641729"/>
            <a:chOff x="9328404" y="1060132"/>
            <a:chExt cx="2131695" cy="1641729"/>
          </a:xfrm>
        </p:grpSpPr>
        <p:sp>
          <p:nvSpPr>
            <p:cNvPr id="41" name="TextBox 41"/>
            <p:cNvSpPr txBox="1"/>
            <p:nvPr/>
          </p:nvSpPr>
          <p:spPr>
            <a:xfrm>
              <a:off x="9575058" y="10601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④ 预测残差异常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334500" y="13525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28404" y="1508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实际值与模型预测值偏差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34500" y="1809750"/>
              <a:ext cx="2095500" cy="342900"/>
            </a:xfrm>
            <a:prstGeom prst="roundRect">
              <a:avLst>
                <a:gd name="adj" fmla="val 11111"/>
              </a:avLst>
            </a:prstGeom>
            <a:solidFill>
              <a:srgbClr val="0D1117"/>
            </a:solidFill>
            <a:ln w="4762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09498" y="1916906"/>
              <a:ext cx="1745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3FB950"/>
                  </a:solidFill>
                  <a:latin typeface="Consolas"/>
                  <a:ea typeface="Consolas"/>
                  <a:cs typeface="Consolas"/>
                </a:rPr>
                <a:t>|actual - pred| &gt; thresh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29166" y="22679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适用场景：渐进式劣化、隐性异常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9166" y="2496502"/>
              <a:ext cx="1518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模型：LSTM / Prophet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65544" y="2934652"/>
            <a:ext cx="8660911" cy="205359"/>
            <a:chOff x="1765544" y="2934652"/>
            <a:chExt cx="8660911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1765544" y="2934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23044" y="2934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80544" y="2934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38044" y="2934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</p:grpSp>
      <p:sp>
        <p:nvSpPr>
          <p:cNvPr id="54" name="Rectangle 54"/>
          <p:cNvSpPr/>
          <p:nvPr/>
        </p:nvSpPr>
        <p:spPr>
          <a:xfrm>
            <a:off x="476250" y="3190875"/>
            <a:ext cx="11239500" cy="1857375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9525">
            <a:solidFill>
              <a:srgbClr val="BC8CFF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476250" y="3190875"/>
            <a:ext cx="11239500" cy="1857375"/>
          </a:xfrm>
          <a:prstGeom prst="roundRect">
            <a:avLst>
              <a:gd name="adj" fmla="val 3077"/>
            </a:avLst>
          </a:prstGeom>
          <a:gradFill>
            <a:gsLst>
              <a:gs pos="0">
                <a:srgbClr val="D29922">
                  <a:alpha val="15000"/>
                </a:srgbClr>
              </a:gs>
              <a:gs pos="100000">
                <a:srgbClr val="F85149">
                  <a:alpha val="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69129" y="332994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风险评分融合模型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797552" y="36423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加权多策略融合，输出统一风险分值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62000" y="3981450"/>
            <a:ext cx="10668000" cy="4572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9525">
            <a:solidFill>
              <a:srgbClr val="BC8CFF">
                <a:alpha val="4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438065" y="4124325"/>
            <a:ext cx="73158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85149"/>
                </a:solidFill>
                <a:latin typeface="Consolas"/>
                <a:ea typeface="Consolas"/>
                <a:cs typeface="Consolas"/>
              </a:rPr>
              <a:t>Risk</a:t>
            </a:r>
            <a:r>
              <a:rPr lang="en-US" sz="150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  = 0.3 ×  </a:t>
            </a:r>
            <a:r>
              <a:rPr lang="en-US" sz="1500" dirty="0">
                <a:solidFill>
                  <a:srgbClr val="F85149"/>
                </a:solidFill>
                <a:latin typeface="Consolas"/>
                <a:ea typeface="Consolas"/>
                <a:cs typeface="Consolas"/>
              </a:rPr>
              <a:t>threshold</a:t>
            </a:r>
            <a:r>
              <a:rPr lang="en-US" sz="150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  + 0.3 ×  </a:t>
            </a:r>
            <a:r>
              <a:rPr lang="en-US" sz="1500" dirty="0">
                <a:solidFill>
                  <a:srgbClr val="D29922"/>
                </a:solidFill>
                <a:latin typeface="Consolas"/>
                <a:ea typeface="Consolas"/>
                <a:cs typeface="Consolas"/>
              </a:rPr>
              <a:t>trend</a:t>
            </a:r>
            <a:r>
              <a:rPr lang="en-US" sz="150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  + 0.2 ×  </a:t>
            </a:r>
            <a:r>
              <a:rPr lang="en-US" sz="1500" dirty="0">
                <a:solidFill>
                  <a:srgbClr val="58A6FF"/>
                </a:solidFill>
                <a:latin typeface="Consolas"/>
                <a:ea typeface="Consolas"/>
                <a:cs typeface="Consolas"/>
              </a:rPr>
              <a:t>volatility</a:t>
            </a:r>
            <a:r>
              <a:rPr lang="en-US" sz="1500" dirty="0">
                <a:solidFill>
                  <a:srgbClr val="F0F6FC"/>
                </a:solidFill>
                <a:latin typeface="Consolas"/>
                <a:ea typeface="Consolas"/>
                <a:cs typeface="Consolas"/>
              </a:rPr>
              <a:t>  + 0.2 ×  </a:t>
            </a:r>
            <a:r>
              <a:rPr lang="en-US" sz="1500" dirty="0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residual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686300"/>
            <a:ext cx="10668000" cy="212407"/>
            <a:chOff x="762000" y="4686300"/>
            <a:chExt cx="10668000" cy="212407"/>
          </a:xfrm>
        </p:grpSpPr>
        <p:sp>
          <p:nvSpPr>
            <p:cNvPr id="60" name="Rectangle 60"/>
            <p:cNvSpPr/>
            <p:nvPr/>
          </p:nvSpPr>
          <p:spPr>
            <a:xfrm>
              <a:off x="762000" y="4686300"/>
              <a:ext cx="3143250" cy="190500"/>
            </a:xfrm>
            <a:prstGeom prst="roundRect">
              <a:avLst>
                <a:gd name="adj" fmla="val 15000"/>
              </a:avLst>
            </a:prstGeom>
            <a:solidFill>
              <a:srgbClr val="F85149">
                <a:alpha val="7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937674" y="4722495"/>
              <a:ext cx="7919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阈值权重 30%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981450" y="4686300"/>
              <a:ext cx="3143250" cy="190500"/>
            </a:xfrm>
            <a:prstGeom prst="roundRect">
              <a:avLst>
                <a:gd name="adj" fmla="val 15000"/>
              </a:avLst>
            </a:prstGeom>
            <a:solidFill>
              <a:srgbClr val="D29922">
                <a:alpha val="7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157124" y="4722495"/>
              <a:ext cx="7919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趋势权重 30%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200900" y="4686300"/>
              <a:ext cx="2095500" cy="190500"/>
            </a:xfrm>
            <a:prstGeom prst="roundRect">
              <a:avLst>
                <a:gd name="adj" fmla="val 15000"/>
              </a:avLst>
            </a:prstGeom>
            <a:solidFill>
              <a:srgbClr val="58A6FF">
                <a:alpha val="70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52699" y="4722495"/>
              <a:ext cx="7919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波动权重 20%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372600" y="4686300"/>
              <a:ext cx="2057400" cy="190500"/>
            </a:xfrm>
            <a:prstGeom prst="roundRect">
              <a:avLst>
                <a:gd name="adj" fmla="val 15000"/>
              </a:avLst>
            </a:prstGeom>
            <a:solidFill>
              <a:srgbClr val="3FB950">
                <a:alpha val="7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005349" y="4722495"/>
              <a:ext cx="7919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1117"/>
                  </a:solidFill>
                  <a:latin typeface="Arial"/>
                  <a:ea typeface="Microsoft YaHei"/>
                  <a:cs typeface="Arial"/>
                </a:rPr>
                <a:t>残差权重 20%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467106" y="5234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报警等级输出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476250" y="5600700"/>
            <a:ext cx="11239500" cy="571500"/>
            <a:chOff x="476250" y="5600700"/>
            <a:chExt cx="11239500" cy="571500"/>
          </a:xfrm>
        </p:grpSpPr>
        <p:sp>
          <p:nvSpPr>
            <p:cNvPr id="70" name="Rectangle 70"/>
            <p:cNvSpPr/>
            <p:nvPr/>
          </p:nvSpPr>
          <p:spPr>
            <a:xfrm>
              <a:off x="476250" y="5600700"/>
              <a:ext cx="19050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476250" y="560070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2979" y="5695950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🟢 低风险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1449" y="5971699"/>
              <a:ext cx="11946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Risk &lt; 0.3 · 仅记录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571750" y="5600700"/>
              <a:ext cx="22860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2571750" y="560070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298979" y="5695950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🟡 中风险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64537" y="5971699"/>
              <a:ext cx="1700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0.3 ≤ Risk &lt; 0.7 · 推送通知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048250" y="5600700"/>
              <a:ext cx="22860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048250" y="5600700"/>
              <a:ext cx="38100" cy="5715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775479" y="5695950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🔴 高风险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527393" y="5971699"/>
              <a:ext cx="1327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Risk ≥ 0.7 · 即时警报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524750" y="5600700"/>
              <a:ext cx="41910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BC8CFF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714069" y="5720239"/>
              <a:ext cx="381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后续动作：→ 自动触发 RAG诊断 → 生成故障报告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01406" y="59636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高风险事件自动路由至诊断工作流，形成闭环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1238250"/>
            <a:ext cx="12192000" cy="4105275"/>
            <a:chOff x="0" y="1238250"/>
            <a:chExt cx="12192000" cy="4105275"/>
          </a:xfrm>
        </p:grpSpPr>
        <p:sp>
          <p:nvSpPr>
            <p:cNvPr id="2" name="Line 2"/>
            <p:cNvSpPr/>
            <p:nvPr/>
          </p:nvSpPr>
          <p:spPr>
            <a:xfrm>
              <a:off x="0" y="123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3238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BC8C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377215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RAG 故障诊断模块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3880" y="314325"/>
            <a:ext cx="5737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模块5 · FAISS 向量检索 · DeepSeek 推理 · 诊断报告自动生成</a:t>
            </a:r>
          </a:p>
        </p:txBody>
      </p:sp>
      <p:sp>
        <p:nvSpPr>
          <p:cNvPr id="9" name="Line 9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67106" y="8058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知识库构建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476250" y="1123950"/>
            <a:ext cx="11239500" cy="762000"/>
            <a:chOff x="476250" y="1123950"/>
            <a:chExt cx="11239500" cy="762000"/>
          </a:xfrm>
        </p:grpSpPr>
        <p:sp>
          <p:nvSpPr>
            <p:cNvPr id="11" name="Rectangle 11"/>
            <p:cNvSpPr/>
            <p:nvPr/>
          </p:nvSpPr>
          <p:spPr>
            <a:xfrm>
              <a:off x="476250" y="1123950"/>
              <a:ext cx="3524250" cy="762000"/>
            </a:xfrm>
            <a:prstGeom prst="roundRect">
              <a:avLst>
                <a:gd name="adj" fmla="val 7500"/>
              </a:avLst>
            </a:prstGeom>
            <a:solidFill>
              <a:srgbClr val="161B22"/>
            </a:solidFill>
            <a:ln w="7620">
              <a:solidFill>
                <a:srgbClr val="58A6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" y="11239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1183" y="12506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📖 电厂运行规程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679" y="1553528"/>
              <a:ext cx="2597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标准操作流程 · 安全阈值规范 · 应急预案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33875" y="1123950"/>
              <a:ext cx="3524250" cy="762000"/>
            </a:xfrm>
            <a:prstGeom prst="roundRect">
              <a:avLst>
                <a:gd name="adj" fmla="val 7500"/>
              </a:avLst>
            </a:prstGeom>
            <a:solidFill>
              <a:srgbClr val="161B22"/>
            </a:solidFill>
            <a:ln w="7620">
              <a:solidFill>
                <a:srgbClr val="3FB95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33875" y="11239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72194" y="125063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📋 历史故障案例库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7304" y="1553528"/>
              <a:ext cx="2597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已知故障类型 · 处理方案 · 根本原因分析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91500" y="1123950"/>
              <a:ext cx="3524250" cy="762000"/>
            </a:xfrm>
            <a:prstGeom prst="roundRect">
              <a:avLst>
                <a:gd name="adj" fmla="val 7500"/>
              </a:avLst>
            </a:prstGeom>
            <a:solidFill>
              <a:srgbClr val="161B22"/>
            </a:solidFill>
            <a:ln w="7620">
              <a:solidFill>
                <a:srgbClr val="D2992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91500" y="11239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63048" y="12506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🔧 设备说明书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2274" y="1553528"/>
              <a:ext cx="2422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设备参数 · 维护手册 · 常见问题FAQ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869180" y="1981200"/>
            <a:ext cx="24536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↓ 向量嵌入 (Embedding) ↓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33750" y="2286000"/>
            <a:ext cx="5524500" cy="47625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4288">
            <a:solidFill>
              <a:srgbClr val="BC8CFF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333750" y="2286000"/>
            <a:ext cx="5524500" cy="38100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021805" y="2412682"/>
            <a:ext cx="21483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BC8CFF"/>
                </a:solidFill>
                <a:latin typeface="Arial"/>
                <a:ea typeface="Microsoft YaHei"/>
                <a:cs typeface="Arial"/>
              </a:rPr>
              <a:t>🔢 FAISS 向量知识库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" y="2952750"/>
            <a:ext cx="11239500" cy="209550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4762">
            <a:solidFill>
              <a:srgbClr val="BC8CF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76250" y="2952750"/>
            <a:ext cx="11239500" cy="2095500"/>
          </a:xfrm>
          <a:prstGeom prst="roundRect">
            <a:avLst>
              <a:gd name="adj" fmla="val 2727"/>
            </a:avLst>
          </a:prstGeom>
          <a:gradFill>
            <a:gsLst>
              <a:gs pos="0">
                <a:srgbClr val="BC8CFF">
                  <a:alpha val="15000"/>
                </a:srgbClr>
              </a:gs>
              <a:gs pos="100000">
                <a:srgbClr val="58A6FF">
                  <a:alpha val="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67106" y="3044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诊断推理流程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66750" y="3429000"/>
            <a:ext cx="10763250" cy="666750"/>
            <a:chOff x="666750" y="3429000"/>
            <a:chExt cx="10763250" cy="666750"/>
          </a:xfrm>
        </p:grpSpPr>
        <p:sp>
          <p:nvSpPr>
            <p:cNvPr id="31" name="Rectangle 31"/>
            <p:cNvSpPr/>
            <p:nvPr/>
          </p:nvSpPr>
          <p:spPr>
            <a:xfrm>
              <a:off x="666750" y="3429000"/>
              <a:ext cx="171450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14288">
              <a:solidFill>
                <a:srgbClr val="F85149">
                  <a:alpha val="7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1918" y="35499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⚠️ 异常触发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828" y="3819049"/>
              <a:ext cx="948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Risk ≥ 0.7 自动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07034" y="3631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67000" y="3429000"/>
              <a:ext cx="180975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14288">
              <a:solidFill>
                <a:srgbClr val="58A6FF">
                  <a:alpha val="7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95426" y="3549968"/>
              <a:ext cx="1152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🔍 FAISS 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07531" y="381904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向量相似度匹配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02534" y="3631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62500" y="3429000"/>
              <a:ext cx="180975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14288">
              <a:solidFill>
                <a:srgbClr val="3FB950">
                  <a:alpha val="7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81655" y="3549968"/>
              <a:ext cx="117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📊 案例 Top-K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03031" y="3819049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最相似案例提取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98034" y="3631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58000" y="3429000"/>
              <a:ext cx="1905000" cy="666750"/>
            </a:xfrm>
            <a:prstGeom prst="roundRect">
              <a:avLst>
                <a:gd name="adj" fmla="val 8571"/>
              </a:avLst>
            </a:prstGeom>
            <a:solidFill>
              <a:srgbClr val="0D3B66"/>
            </a:solidFill>
            <a:ln w="19050">
              <a:solidFill>
                <a:srgbClr val="58A6FF">
                  <a:alpha val="8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73088" y="3549968"/>
              <a:ext cx="1474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🧠 DeepSeek 推理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5058" y="381904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多轮推理 + 知识融合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88784" y="3631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48750" y="3429000"/>
              <a:ext cx="238125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14288">
              <a:solidFill>
                <a:srgbClr val="BC8CFF">
                  <a:alpha val="70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69769" y="354996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📄 诊断报告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3777" y="38190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自动生成结构化报告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7688" y="4286250"/>
            <a:ext cx="5086375" cy="523875"/>
            <a:chOff x="647688" y="4286250"/>
            <a:chExt cx="5086375" cy="523875"/>
          </a:xfrm>
        </p:grpSpPr>
        <p:sp>
          <p:nvSpPr>
            <p:cNvPr id="51" name="Rectangle 51"/>
            <p:cNvSpPr/>
            <p:nvPr/>
          </p:nvSpPr>
          <p:spPr>
            <a:xfrm>
              <a:off x="666750" y="4286250"/>
              <a:ext cx="504825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7688" y="4402931"/>
              <a:ext cx="5086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RAG Prompt: "{anomaly_info} + {top_k_cases} + 请分析可能故障原因"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78217" y="4619149"/>
              <a:ext cx="28253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异常信息 + 检索案例 + 推理提示词 → 结构化输出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00750" y="4286250"/>
            <a:ext cx="3238500" cy="523875"/>
            <a:chOff x="6000750" y="4286250"/>
            <a:chExt cx="3238500" cy="523875"/>
          </a:xfrm>
        </p:grpSpPr>
        <p:sp>
          <p:nvSpPr>
            <p:cNvPr id="55" name="Rectangle 55"/>
            <p:cNvSpPr/>
            <p:nvPr/>
          </p:nvSpPr>
          <p:spPr>
            <a:xfrm>
              <a:off x="6000750" y="4286250"/>
              <a:ext cx="323850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83776" y="4402931"/>
              <a:ext cx="1872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支持 Manus/MCP 协议扩展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9696" y="4619149"/>
              <a:ext cx="2280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知识库动态更新 · 反馈优化 · 持续增强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467106" y="53301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诊断报告输出示例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76250" y="5667375"/>
            <a:ext cx="11239500" cy="981075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7620">
            <a:solidFill>
              <a:srgbClr val="3FB950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465689" y="5729294"/>
            <a:ext cx="59221" cy="904875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>
            <a:off x="755904" y="5829300"/>
            <a:ext cx="8007096" cy="829056"/>
            <a:chOff x="755904" y="5829300"/>
            <a:chExt cx="8007096" cy="829056"/>
          </a:xfrm>
        </p:grpSpPr>
        <p:sp>
          <p:nvSpPr>
            <p:cNvPr id="62" name="Rectangle 62"/>
            <p:cNvSpPr/>
            <p:nvPr/>
          </p:nvSpPr>
          <p:spPr>
            <a:xfrm>
              <a:off x="762000" y="5829300"/>
              <a:ext cx="2095500" cy="2667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2432" y="5898356"/>
              <a:ext cx="1654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🔧 故障类型：减温水不足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048000" y="5829300"/>
              <a:ext cx="2667000" cy="2667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91376" y="5898356"/>
              <a:ext cx="1980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⚠️ 风险等级：高风险 (0.82)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905500" y="5829300"/>
              <a:ext cx="2857500" cy="2667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26754" y="5898356"/>
              <a:ext cx="2214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📊 相似案例：3例 (相似度&gt;0.85)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5904" y="62331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🔴 原因分析：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708404" y="62331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调节阀开度异常，阀芯卡涩导致减温水流量不足，造成主蒸汽温度持续偏高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5904" y="64236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✅ 建议措施：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708404" y="6423660"/>
              <a:ext cx="5149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1# 立即检查调节阀执行机构 2# 启动备用减温系统 3# 安排停炉检修计划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93598" y="13620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模型自适应优化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3880" y="314325"/>
            <a:ext cx="46899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模块6 · 工况识别 · 分流训练 · 版本迭代 · 持续优化</a:t>
            </a:r>
          </a:p>
        </p:txBody>
      </p:sp>
      <p:sp>
        <p:nvSpPr>
          <p:cNvPr id="8" name="Line 8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76250" y="838200"/>
            <a:ext cx="590550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3FB95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Rectangle 10"/>
          <p:cNvSpPr/>
          <p:nvPr/>
        </p:nvSpPr>
        <p:spPr>
          <a:xfrm>
            <a:off x="476250" y="838200"/>
            <a:ext cx="5905500" cy="381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79402" y="963930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自适应优化闭环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381250" y="1362075"/>
            <a:ext cx="3857625" cy="2971800"/>
            <a:chOff x="2381250" y="1362075"/>
            <a:chExt cx="3857625" cy="2971800"/>
          </a:xfrm>
        </p:grpSpPr>
        <p:sp>
          <p:nvSpPr>
            <p:cNvPr id="12" name="Rectangle 12"/>
            <p:cNvSpPr/>
            <p:nvPr/>
          </p:nvSpPr>
          <p:spPr>
            <a:xfrm>
              <a:off x="2381250" y="1381125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11430">
              <a:solidFill>
                <a:srgbClr val="58A6FF">
                  <a:alpha val="7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63982" y="1492568"/>
              <a:ext cx="113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📊 实时数据流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99029" y="17425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连续时序数据输入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72164" y="1949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1250" y="2171700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11430">
              <a:solidFill>
                <a:srgbClr val="D29922">
                  <a:alpha val="7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9394" y="2283142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🔍 工况识别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23558" y="2533174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低负荷 · 高负荷分类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2789" y="2359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14875" y="2171700"/>
              <a:ext cx="15240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11430">
              <a:solidFill>
                <a:srgbClr val="BC8CFF">
                  <a:alpha val="7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61915" y="22993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匹配历史数据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08638" y="254127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同类工况筛选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0039" y="1949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14875" y="1362075"/>
              <a:ext cx="1524000" cy="571500"/>
            </a:xfrm>
            <a:prstGeom prst="roundRect">
              <a:avLst>
                <a:gd name="adj" fmla="val 10000"/>
              </a:avLst>
            </a:prstGeom>
            <a:solidFill>
              <a:srgbClr val="0D3B66"/>
            </a:solidFill>
            <a:ln w="19050">
              <a:solidFill>
                <a:srgbClr val="58A6FF">
                  <a:alpha val="8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31537" y="1489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模型训练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2294" y="1731645"/>
              <a:ext cx="929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LSTM / Prophet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2789" y="15497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2164" y="27403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81250" y="2971800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11430">
              <a:solidFill>
                <a:srgbClr val="3FB950">
                  <a:alpha val="7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59394" y="3083242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📈 模型评估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1430" y="3333274"/>
              <a:ext cx="1355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RMSE · MAE 指标对比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72164" y="35404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381250" y="3762375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11430">
              <a:solidFill>
                <a:srgbClr val="BC8CFF">
                  <a:alpha val="7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59394" y="38738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🔄 版本更新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23558" y="412384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通过评估 → 部署上线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476750" y="1666875"/>
              <a:ext cx="381000" cy="2095500"/>
            </a:xfrm>
            <a:custGeom>
              <a:avLst/>
              <a:gdLst/>
              <a:ahLst/>
              <a:cxnLst/>
              <a:rect l="l" t="t" r="r" b="b"/>
              <a:pathLst>
                <a:path w="381000" h="2095500">
                  <a:moveTo>
                    <a:pt x="0" y="2095500"/>
                  </a:moveTo>
                  <a:lnTo>
                    <a:pt x="381000" y="2095500"/>
                  </a:lnTo>
                  <a:lnTo>
                    <a:pt x="381000" y="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FB950">
                  <a:alpha val="40000"/>
                </a:srgbClr>
              </a:solidFill>
              <a:prstDash val="dash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21277" y="279558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持续迭代循环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952500" y="4648200"/>
            <a:ext cx="4953000" cy="523875"/>
          </a:xfrm>
          <a:prstGeom prst="roundRect">
            <a:avLst>
              <a:gd name="adj" fmla="val 7273"/>
            </a:avLst>
          </a:prstGeom>
          <a:solidFill>
            <a:srgbClr val="1C2333"/>
          </a:solidFill>
          <a:ln w="4762">
            <a:solidFill>
              <a:srgbClr val="3FB950">
                <a:alpha val="4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617274" y="4764881"/>
            <a:ext cx="36234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💡 核心价值：模型随工况漂移自动适应，避免精度衰减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242756" y="4981099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动态保证预测模型始终匹配当前运行工况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572250" y="838200"/>
            <a:ext cx="5143500" cy="5429250"/>
          </a:xfrm>
          <a:prstGeom prst="roundRect">
            <a:avLst>
              <a:gd name="adj" fmla="val 1111"/>
            </a:avLst>
          </a:prstGeom>
          <a:solidFill>
            <a:srgbClr val="161B22"/>
          </a:solidFill>
          <a:ln w="4762">
            <a:solidFill>
              <a:srgbClr val="D2992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572250" y="83820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242821" y="96393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工况分流训练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6848856" y="1428750"/>
            <a:ext cx="4676394" cy="1264539"/>
            <a:chOff x="6848856" y="1428750"/>
            <a:chExt cx="4676394" cy="1264539"/>
          </a:xfrm>
        </p:grpSpPr>
        <p:sp>
          <p:nvSpPr>
            <p:cNvPr id="45" name="Rectangle 45"/>
            <p:cNvSpPr/>
            <p:nvPr/>
          </p:nvSpPr>
          <p:spPr>
            <a:xfrm>
              <a:off x="6848856" y="1455039"/>
              <a:ext cx="2190750" cy="1238250"/>
            </a:xfrm>
            <a:prstGeom prst="roundRect">
              <a:avLst>
                <a:gd name="adj" fmla="val 4615"/>
              </a:avLst>
            </a:prstGeom>
            <a:solidFill>
              <a:srgbClr val="1C2333"/>
            </a:solidFill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8000" y="1428750"/>
              <a:ext cx="219075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69457" y="1587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低负荷工况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048500" y="1857375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48500" y="1981200"/>
              <a:ext cx="1809750" cy="266700"/>
            </a:xfrm>
            <a:prstGeom prst="roundRect">
              <a:avLst>
                <a:gd name="adj" fmla="val 10714"/>
              </a:avLst>
            </a:prstGeom>
            <a:solidFill>
              <a:srgbClr val="0D3B66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02157" y="2056924"/>
              <a:ext cx="902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model_low.pkl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45401" y="2350320"/>
              <a:ext cx="1631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LSTM 模型 → 低负荷预测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34500" y="1428750"/>
              <a:ext cx="2190750" cy="1238250"/>
            </a:xfrm>
            <a:prstGeom prst="roundRect">
              <a:avLst>
                <a:gd name="adj" fmla="val 4615"/>
              </a:avLst>
            </a:prstGeom>
            <a:solidFill>
              <a:srgbClr val="1C2333"/>
            </a:solidFill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334500" y="1428750"/>
              <a:ext cx="2190750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45957" y="1587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高负荷工况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525000" y="1857375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525000" y="1981200"/>
              <a:ext cx="1809750" cy="2667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4762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55687" y="2056924"/>
              <a:ext cx="948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85149"/>
                  </a:solidFill>
                  <a:latin typeface="Consolas"/>
                  <a:ea typeface="Consolas"/>
                  <a:cs typeface="Consolas"/>
                </a:rPr>
                <a:t>model_high.pkl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50616" y="2335911"/>
              <a:ext cx="17774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PropHet 模型 → 高负荷预测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53375" y="1018699"/>
            <a:ext cx="1458087" cy="362426"/>
            <a:chOff x="7953375" y="1018699"/>
            <a:chExt cx="1458087" cy="362426"/>
          </a:xfrm>
        </p:grpSpPr>
        <p:sp>
          <p:nvSpPr>
            <p:cNvPr id="60" name="Line 60"/>
            <p:cNvSpPr/>
            <p:nvPr/>
          </p:nvSpPr>
          <p:spPr>
            <a:xfrm>
              <a:off x="7953375" y="1190625"/>
              <a:ext cx="1190625" cy="190500"/>
            </a:xfrm>
            <a:custGeom>
              <a:avLst/>
              <a:gdLst/>
              <a:ahLst/>
              <a:cxnLst/>
              <a:rect l="l" t="t" r="r" b="b"/>
              <a:pathLst>
                <a:path w="1190625" h="190500">
                  <a:moveTo>
                    <a:pt x="0" y="190500"/>
                  </a:moveTo>
                  <a:lnTo>
                    <a:pt x="1190625" y="0"/>
                  </a:lnTo>
                </a:path>
              </a:pathLst>
            </a:custGeom>
            <a:noFill/>
            <a:ln w="7620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7953375" y="1190625"/>
              <a:ext cx="1190625" cy="190500"/>
            </a:xfrm>
            <a:custGeom>
              <a:avLst/>
              <a:gdLst/>
              <a:ahLst/>
              <a:cxnLst/>
              <a:rect l="l" t="t" r="r" b="b"/>
              <a:pathLst>
                <a:path w="1190625" h="190500">
                  <a:moveTo>
                    <a:pt x="1190625" y="190500"/>
                  </a:move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8B949E">
                  <a:alpha val="30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76538" y="10186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数据分流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6848856" y="2806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评价指标体系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6858000" y="3219450"/>
            <a:ext cx="4667250" cy="857250"/>
            <a:chOff x="6858000" y="3219450"/>
            <a:chExt cx="4667250" cy="857250"/>
          </a:xfrm>
        </p:grpSpPr>
        <p:sp>
          <p:nvSpPr>
            <p:cNvPr id="65" name="Rectangle 65"/>
            <p:cNvSpPr/>
            <p:nvPr/>
          </p:nvSpPr>
          <p:spPr>
            <a:xfrm>
              <a:off x="6858000" y="3219450"/>
              <a:ext cx="2190750" cy="857250"/>
            </a:xfrm>
            <a:prstGeom prst="roundRect">
              <a:avLst>
                <a:gd name="adj" fmla="val 6667"/>
              </a:avLst>
            </a:prstGeom>
            <a:solidFill>
              <a:srgbClr val="1C2333"/>
            </a:solidFill>
            <a:ln w="7620">
              <a:solidFill>
                <a:srgbClr val="58A6FF">
                  <a:alpha val="60000"/>
                </a:srgbClr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58000" y="3219450"/>
              <a:ext cx="219075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49276" y="3317558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RMSE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94664" y="36204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均方根误差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3404" y="3847624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衡量预测精度偏差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334500" y="3219450"/>
              <a:ext cx="2190750" cy="857250"/>
            </a:xfrm>
            <a:prstGeom prst="roundRect">
              <a:avLst>
                <a:gd name="adj" fmla="val 6667"/>
              </a:avLst>
            </a:prstGeom>
            <a:solidFill>
              <a:srgbClr val="1C2333"/>
            </a:solidFill>
            <a:ln w="7620">
              <a:solidFill>
                <a:srgbClr val="3FB950">
                  <a:alpha val="6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334500" y="3219450"/>
              <a:ext cx="219075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193545" y="3317558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FB950"/>
                  </a:solidFill>
                  <a:latin typeface="Arial"/>
                  <a:ea typeface="Arial"/>
                  <a:cs typeface="Arial"/>
                </a:rPr>
                <a:t>MAE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00488" y="36204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平均绝对误差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65531" y="3847624"/>
              <a:ext cx="928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绝对值误差期望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848856" y="42348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版本管理策略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6858000" y="4619625"/>
            <a:ext cx="4667250" cy="904875"/>
            <a:chOff x="6858000" y="4619625"/>
            <a:chExt cx="4667250" cy="904875"/>
          </a:xfrm>
        </p:grpSpPr>
        <p:sp>
          <p:nvSpPr>
            <p:cNvPr id="77" name="Rectangle 77"/>
            <p:cNvSpPr/>
            <p:nvPr/>
          </p:nvSpPr>
          <p:spPr>
            <a:xfrm>
              <a:off x="6858000" y="4619625"/>
              <a:ext cx="466725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BC8CFF">
                  <a:alpha val="4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648718" y="4736306"/>
              <a:ext cx="3085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新旧模型对比 → 评估优于历史 → 自动替换上线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858000" y="5143500"/>
              <a:ext cx="2238375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32066" y="5268278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🔄 自动触发：定时/手动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286875" y="5143500"/>
              <a:ext cx="2238375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699812" y="5268278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📋 保留历史：版本存档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6858000" y="5695950"/>
            <a:ext cx="4667250" cy="457200"/>
          </a:xfrm>
          <a:prstGeom prst="roundRect">
            <a:avLst>
              <a:gd name="adj" fmla="val 8333"/>
            </a:avLst>
          </a:prstGeom>
          <a:solidFill>
            <a:srgbClr val="1C2333"/>
          </a:solidFill>
          <a:ln w="4762">
            <a:solidFill>
              <a:srgbClr val="3FB950">
                <a:alpha val="40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737577" y="5792152"/>
            <a:ext cx="29080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✅ 新模型 RMSE-MAE 优于旧模型 → 自动部署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005382" y="5990749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❌ 性能下降 → 回退至上一版本并告警通知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23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5" name="Rectangle 5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D2992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93598" y="1362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历史预警统计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02380" y="314325"/>
            <a:ext cx="4669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模块7 · alarm_table 驱动 · 三维护统计 · 风险趋势</a:t>
            </a:r>
          </a:p>
        </p:txBody>
      </p:sp>
      <p:sp>
        <p:nvSpPr>
          <p:cNvPr id="8" name="Line 8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76250" y="838200"/>
            <a:ext cx="561975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D2992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38200"/>
            <a:ext cx="5619750" cy="381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58060" y="963930"/>
            <a:ext cx="285613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D29922"/>
                </a:solidFill>
                <a:latin typeface="Arial"/>
                <a:ea typeface="Microsoft YaHei"/>
                <a:cs typeface="Arial"/>
              </a:rPr>
              <a:t>过去7天报警统计概览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62000" y="1381125"/>
            <a:ext cx="5048250" cy="952500"/>
            <a:chOff x="762000" y="1381125"/>
            <a:chExt cx="5048250" cy="952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381125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F85149">
                  <a:alpha val="6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381125"/>
              <a:ext cx="2381250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29003" y="1470660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85149"/>
                  </a:solidFill>
                  <a:latin typeface="Arial"/>
                  <a:ea typeface="Arial"/>
                  <a:cs typeface="Arial"/>
                </a:rPr>
                <a:t>47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2669" y="1918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总报警次数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0157" y="2141220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↑ 12% vs 上周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1381125"/>
              <a:ext cx="238125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D29922">
                  <a:alpha val="6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29000" y="1381125"/>
              <a:ext cx="238125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00956" y="1470660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D29922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54272" y="1918335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平均持续时间 (分钟)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27157" y="2141220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↓ 18% vs 上周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3618" y="24888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按报警类型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2809875"/>
            <a:ext cx="5048250" cy="1809750"/>
            <a:chOff x="762000" y="2809875"/>
            <a:chExt cx="5048250" cy="1809750"/>
          </a:xfrm>
        </p:grpSpPr>
        <p:sp>
          <p:nvSpPr>
            <p:cNvPr id="24" name="Rectangle 24"/>
            <p:cNvSpPr/>
            <p:nvPr/>
          </p:nvSpPr>
          <p:spPr>
            <a:xfrm>
              <a:off x="762000" y="2809875"/>
              <a:ext cx="504825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F85149">
                  <a:alpha val="4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6404" y="2918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温度异常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60904" y="291846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15 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38500" y="2933700"/>
              <a:ext cx="1714500" cy="133350"/>
            </a:xfrm>
            <a:prstGeom prst="roundRect">
              <a:avLst>
                <a:gd name="adj" fmla="val 21429"/>
              </a:avLst>
            </a:prstGeom>
            <a:solidFill>
              <a:srgbClr val="F85149">
                <a:alpha val="60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3286125"/>
              <a:ext cx="504825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404" y="3394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振动异常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0904" y="339471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8 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38500" y="3409950"/>
              <a:ext cx="914400" cy="133350"/>
            </a:xfrm>
            <a:prstGeom prst="roundRect">
              <a:avLst>
                <a:gd name="adj" fmla="val 21429"/>
              </a:avLst>
            </a:prstGeom>
            <a:solidFill>
              <a:srgbClr val="58A6FF">
                <a:alpha val="60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2000" y="3762375"/>
              <a:ext cx="504825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6404" y="3870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压力异常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60904" y="387096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12 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38500" y="3886200"/>
              <a:ext cx="1371600" cy="133350"/>
            </a:xfrm>
            <a:prstGeom prst="roundRect">
              <a:avLst>
                <a:gd name="adj" fmla="val 21429"/>
              </a:avLst>
            </a:prstGeom>
            <a:solidFill>
              <a:srgbClr val="D29922">
                <a:alpha val="60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4238625"/>
              <a:ext cx="504825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6404" y="4347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流量异常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60904" y="434721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12 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38500" y="4362450"/>
              <a:ext cx="1371600" cy="133350"/>
            </a:xfrm>
            <a:prstGeom prst="roundRect">
              <a:avLst>
                <a:gd name="adj" fmla="val 21429"/>
              </a:avLst>
            </a:prstGeom>
            <a:solidFill>
              <a:srgbClr val="3FB950">
                <a:alpha val="60000"/>
              </a:srgbClr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753618" y="467963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按风险等级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62000" y="5000625"/>
            <a:ext cx="4857750" cy="381000"/>
            <a:chOff x="762000" y="5000625"/>
            <a:chExt cx="4857750" cy="381000"/>
          </a:xfrm>
        </p:grpSpPr>
        <p:sp>
          <p:nvSpPr>
            <p:cNvPr id="42" name="Rectangle 42"/>
            <p:cNvSpPr/>
            <p:nvPr/>
          </p:nvSpPr>
          <p:spPr>
            <a:xfrm>
              <a:off x="762000" y="5000625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6370" y="5117306"/>
              <a:ext cx="935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低风险：22次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428875" y="5000625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23245" y="5117306"/>
              <a:ext cx="935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中风险：18次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095750" y="5000625"/>
              <a:ext cx="1524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F85149">
                  <a:alpha val="4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31768" y="5117306"/>
              <a:ext cx="851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高风险：7次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6286500" y="838200"/>
            <a:ext cx="542925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58A6FF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838200"/>
            <a:ext cx="5429250" cy="381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099946" y="96393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多维统计分析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572250" y="1381125"/>
            <a:ext cx="4857750" cy="1524000"/>
          </a:xfrm>
          <a:prstGeom prst="roundRect">
            <a:avLst>
              <a:gd name="adj" fmla="val 3125"/>
            </a:avLst>
          </a:prstGeom>
          <a:solidFill>
            <a:srgbClr val="1C2333"/>
          </a:solidFill>
          <a:ln w="4762">
            <a:solidFill>
              <a:srgbClr val="30363D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385200" y="1489710"/>
            <a:ext cx="12318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报警趋势（7天）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6762750" y="2714625"/>
            <a:ext cx="4476750" cy="196691"/>
            <a:chOff x="6762750" y="2714625"/>
            <a:chExt cx="4476750" cy="196691"/>
          </a:xfrm>
        </p:grpSpPr>
        <p:sp>
          <p:nvSpPr>
            <p:cNvPr id="54" name="Rectangle 54"/>
            <p:cNvSpPr/>
            <p:nvPr/>
          </p:nvSpPr>
          <p:spPr>
            <a:xfrm>
              <a:off x="6762750" y="2714625"/>
              <a:ext cx="476250" cy="133350"/>
            </a:xfrm>
            <a:prstGeom prst="rect">
              <a:avLst/>
            </a:prstGeom>
            <a:solidFill>
              <a:srgbClr val="3FB950">
                <a:alpha val="6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7164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429500" y="2714625"/>
              <a:ext cx="476250" cy="114300"/>
            </a:xfrm>
            <a:prstGeom prst="rect">
              <a:avLst/>
            </a:prstGeom>
            <a:solidFill>
              <a:srgbClr val="3FB950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3839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96250" y="2714625"/>
              <a:ext cx="476250" cy="190500"/>
            </a:xfrm>
            <a:prstGeom prst="rect">
              <a:avLst/>
            </a:prstGeom>
            <a:solidFill>
              <a:srgbClr val="D29922">
                <a:alpha val="6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0514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0" y="2714625"/>
              <a:ext cx="476250" cy="152400"/>
            </a:xfrm>
            <a:prstGeom prst="rect">
              <a:avLst/>
            </a:prstGeom>
            <a:solidFill>
              <a:srgbClr val="F85149">
                <a:alpha val="6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7189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429750" y="2714625"/>
              <a:ext cx="476250" cy="190500"/>
            </a:xfrm>
            <a:prstGeom prst="rect">
              <a:avLst/>
            </a:prstGeom>
            <a:solidFill>
              <a:srgbClr val="F85149">
                <a:alpha val="7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53864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096500" y="2714625"/>
              <a:ext cx="476250" cy="95250"/>
            </a:xfrm>
            <a:prstGeom prst="rect">
              <a:avLst/>
            </a:prstGeom>
            <a:solidFill>
              <a:srgbClr val="3FB950">
                <a:alpha val="50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0539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63250" y="2714625"/>
              <a:ext cx="476250" cy="114300"/>
            </a:xfrm>
            <a:prstGeom prst="rect">
              <a:avLst/>
            </a:prstGeom>
            <a:solidFill>
              <a:srgbClr val="3FB950">
                <a:alpha val="5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872140" y="2749391"/>
              <a:ext cx="258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Consolas"/>
                  <a:ea typeface="Consolas"/>
                  <a:cs typeface="Consolas"/>
                </a:rPr>
                <a:t>Day7</a:t>
              </a:r>
            </a:p>
          </p:txBody>
        </p:sp>
      </p:grpSp>
      <p:sp>
        <p:nvSpPr>
          <p:cNvPr id="69" name="Polyline 69"/>
          <p:cNvSpPr/>
          <p:nvPr/>
        </p:nvSpPr>
        <p:spPr>
          <a:xfrm>
            <a:off x="7000875" y="2628900"/>
            <a:ext cx="4000500" cy="104775"/>
          </a:xfrm>
          <a:custGeom>
            <a:avLst/>
            <a:gdLst/>
            <a:ahLst/>
            <a:cxnLst/>
            <a:rect l="l" t="t" r="r" b="b"/>
            <a:pathLst>
              <a:path w="4000500" h="104775">
                <a:moveTo>
                  <a:pt x="0" y="57150"/>
                </a:moveTo>
                <a:lnTo>
                  <a:pt x="666750" y="66675"/>
                </a:lnTo>
                <a:lnTo>
                  <a:pt x="1333500" y="0"/>
                </a:lnTo>
                <a:lnTo>
                  <a:pt x="2000250" y="28575"/>
                </a:lnTo>
                <a:lnTo>
                  <a:pt x="2667000" y="0"/>
                </a:lnTo>
                <a:lnTo>
                  <a:pt x="3333750" y="104775"/>
                </a:lnTo>
                <a:lnTo>
                  <a:pt x="4000500" y="76200"/>
                </a:lnTo>
              </a:path>
            </a:pathLst>
          </a:custGeom>
          <a:noFill/>
          <a:ln w="14288">
            <a:solidFill>
              <a:srgbClr val="58A6FF">
                <a:alpha val="6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6563868" y="30603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报警类型分布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6572250" y="3409950"/>
            <a:ext cx="3714750" cy="1162050"/>
            <a:chOff x="6572250" y="3409950"/>
            <a:chExt cx="3714750" cy="1162050"/>
          </a:xfrm>
        </p:grpSpPr>
        <p:sp>
          <p:nvSpPr>
            <p:cNvPr id="71" name="Rectangle 71"/>
            <p:cNvSpPr/>
            <p:nvPr/>
          </p:nvSpPr>
          <p:spPr>
            <a:xfrm>
              <a:off x="6572250" y="3409950"/>
              <a:ext cx="219075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F85149">
                  <a:alpha val="40000"/>
                </a:srgbClr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572250" y="3409950"/>
              <a:ext cx="762000" cy="523875"/>
            </a:xfrm>
            <a:prstGeom prst="roundRect">
              <a:avLst>
                <a:gd name="adj" fmla="val 7273"/>
              </a:avLst>
            </a:prstGeom>
            <a:solidFill>
              <a:srgbClr val="F85149">
                <a:alpha val="30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26325" y="360426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温度 32%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953500" y="3409950"/>
              <a:ext cx="133350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953500" y="3409950"/>
              <a:ext cx="476250" cy="523875"/>
            </a:xfrm>
            <a:prstGeom prst="roundRect">
              <a:avLst>
                <a:gd name="adj" fmla="val 8000"/>
              </a:avLst>
            </a:prstGeom>
            <a:solidFill>
              <a:srgbClr val="D29922">
                <a:alpha val="3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78950" y="360426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压力 26%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572250" y="4048125"/>
              <a:ext cx="142875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572250" y="4048125"/>
              <a:ext cx="523875" cy="523875"/>
            </a:xfrm>
            <a:prstGeom prst="roundRect">
              <a:avLst>
                <a:gd name="adj" fmla="val 7273"/>
              </a:avLst>
            </a:prstGeom>
            <a:solidFill>
              <a:srgbClr val="58A6FF">
                <a:alpha val="3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45325" y="424243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振动 17%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91500" y="4048125"/>
              <a:ext cx="2095500" cy="523875"/>
            </a:xfrm>
            <a:prstGeom prst="roundRect">
              <a:avLst>
                <a:gd name="adj" fmla="val 7273"/>
              </a:avLst>
            </a:prstGeom>
            <a:solidFill>
              <a:srgbClr val="1C2333"/>
            </a:solidFill>
            <a:ln w="4762">
              <a:solidFill>
                <a:srgbClr val="3FB950">
                  <a:alpha val="40000"/>
                </a:srgbClr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191500" y="4048125"/>
              <a:ext cx="523875" cy="523875"/>
            </a:xfrm>
            <a:prstGeom prst="roundRect">
              <a:avLst>
                <a:gd name="adj" fmla="val 7273"/>
              </a:avLst>
            </a:prstGeom>
            <a:solidFill>
              <a:srgbClr val="3FB950">
                <a:alpha val="3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97950" y="4242435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流量 25%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563868" y="4679632"/>
            <a:ext cx="21079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高频报警设备 Top 3</a:t>
            </a:r>
          </a:p>
        </p:txBody>
      </p:sp>
      <p:grpSp>
        <p:nvGrpSpPr>
          <p:cNvPr id="94" name="Group 94"/>
          <p:cNvGrpSpPr/>
          <p:nvPr/>
        </p:nvGrpSpPr>
        <p:grpSpPr>
          <a:xfrm>
            <a:off x="6572250" y="5000625"/>
            <a:ext cx="4857750" cy="1152525"/>
            <a:chOff x="6572250" y="5000625"/>
            <a:chExt cx="4857750" cy="1152525"/>
          </a:xfrm>
        </p:grpSpPr>
        <p:sp>
          <p:nvSpPr>
            <p:cNvPr id="85" name="Rectangle 85"/>
            <p:cNvSpPr/>
            <p:nvPr/>
          </p:nvSpPr>
          <p:spPr>
            <a:xfrm>
              <a:off x="6572250" y="5000625"/>
              <a:ext cx="4857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F85149">
                  <a:alpha val="40000"/>
                </a:srgbClr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56654" y="50901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🥇 2号机组锅炉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00541" y="5106352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主蒸汽温度异常 · 18次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572250" y="5410200"/>
              <a:ext cx="4857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56654" y="549973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🥈 1号汽轮机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00541" y="5515928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轴承振动超标 · 12次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572250" y="5810250"/>
              <a:ext cx="4857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756654" y="589978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🥉 3号给水泵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00541" y="5915978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出口压力波动 · 9次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23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552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报告与日志模块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314325"/>
            <a:ext cx="46596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模块8 · 报告自动生成 · 全链路追溯 · 可审计可复盘</a:t>
            </a:r>
          </a:p>
        </p:txBody>
      </p:sp>
      <p:sp>
        <p:nvSpPr>
          <p:cNvPr id="9" name="Line 9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38200"/>
            <a:ext cx="4762500" cy="5429250"/>
          </a:xfrm>
          <a:prstGeom prst="roundRect">
            <a:avLst>
              <a:gd name="adj" fmla="val 1200"/>
            </a:avLst>
          </a:prstGeom>
          <a:solidFill>
            <a:srgbClr val="161B22"/>
          </a:solidFill>
          <a:ln w="4762">
            <a:solidFill>
              <a:srgbClr val="58A6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76250" y="838200"/>
            <a:ext cx="4762500" cy="381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659484" y="963930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故障分析报告模板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1409700"/>
            <a:ext cx="4191000" cy="3844861"/>
            <a:chOff x="762000" y="1409700"/>
            <a:chExt cx="4191000" cy="3844861"/>
          </a:xfrm>
        </p:grpSpPr>
        <p:sp>
          <p:nvSpPr>
            <p:cNvPr id="13" name="Rectangle 13"/>
            <p:cNvSpPr/>
            <p:nvPr/>
          </p:nvSpPr>
          <p:spPr>
            <a:xfrm>
              <a:off x="762000" y="1409700"/>
              <a:ext cx="4191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6785" y="152638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📅 报告时间：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2160" y="1526381"/>
              <a:ext cx="1556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2026-07-09 14:30:00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885950"/>
              <a:ext cx="4191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6785" y="200263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🔧 设备名称：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2160" y="2002631"/>
              <a:ext cx="851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2号机组锅炉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362200"/>
              <a:ext cx="4191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6785" y="2478881"/>
              <a:ext cx="980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⚠️ 异常参数：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2160" y="2478881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主蒸汽温度 · 持续偏高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838450"/>
              <a:ext cx="4191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6785" y="295513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📈 趋势分析：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2160" y="2955131"/>
              <a:ext cx="1851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过去24h温度持续上升 +38℃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314700"/>
              <a:ext cx="4191000" cy="381000"/>
            </a:xfrm>
            <a:prstGeom prst="roundRect">
              <a:avLst>
                <a:gd name="adj" fmla="val 100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6785" y="343138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🔮 模型预测：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42160" y="3431381"/>
              <a:ext cx="2006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LSTM预测未来2h继续上升5℃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790950"/>
              <a:ext cx="4191000" cy="666750"/>
            </a:xfrm>
            <a:prstGeom prst="roundRect">
              <a:avLst>
                <a:gd name="adj" fmla="val 5714"/>
              </a:avLst>
            </a:prstGeom>
            <a:solidFill>
              <a:srgbClr val="1C2333"/>
            </a:solidFill>
            <a:ln w="4762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785" y="390763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🔍 原因分析：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153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调节阀开度异常，阀芯卡涩导致减温水流量不足。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547" y="4304824"/>
              <a:ext cx="2201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参考案例 #2024-0321 (相似度 0.91)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4552950"/>
              <a:ext cx="4191000" cy="666750"/>
            </a:xfrm>
            <a:prstGeom prst="roundRect">
              <a:avLst>
                <a:gd name="adj" fmla="val 5714"/>
              </a:avLst>
            </a:prstGeom>
            <a:solidFill>
              <a:srgbClr val="1C2333"/>
            </a:solidFill>
            <a:ln w="4762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6785" y="4669631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✅ 建议措施：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4887278"/>
              <a:ext cx="2328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1# 现场检查调节阀执行机构动作情况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7166" y="50492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2# 必要时启动备用减温系统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1238250" y="5429250"/>
            <a:ext cx="3238500" cy="36195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 w="9525">
            <a:solidFill>
              <a:srgbClr val="58A6F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952320" y="5537835"/>
            <a:ext cx="18103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🤖 由 AI Agent 自动生成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429250" y="838200"/>
            <a:ext cx="6286500" cy="5429250"/>
          </a:xfrm>
          <a:prstGeom prst="roundRect">
            <a:avLst>
              <a:gd name="adj" fmla="val 1053"/>
            </a:avLst>
          </a:prstGeom>
          <a:solidFill>
            <a:srgbClr val="161B22"/>
          </a:solidFill>
          <a:ln w="4762">
            <a:solidFill>
              <a:srgbClr val="3FB95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429250" y="838200"/>
            <a:ext cx="6286500" cy="381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22902" y="963930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FB950"/>
                </a:solidFill>
                <a:latin typeface="Arial"/>
                <a:ea typeface="Microsoft YaHei"/>
                <a:cs typeface="Arial"/>
              </a:rPr>
              <a:t>全链路日志追溯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5810250" y="1428750"/>
            <a:ext cx="5095875" cy="2667000"/>
            <a:chOff x="5810250" y="1428750"/>
            <a:chExt cx="5095875" cy="2667000"/>
          </a:xfrm>
        </p:grpSpPr>
        <p:sp>
          <p:nvSpPr>
            <p:cNvPr id="42" name="Rectangle 42"/>
            <p:cNvSpPr/>
            <p:nvPr/>
          </p:nvSpPr>
          <p:spPr>
            <a:xfrm>
              <a:off x="5810250" y="1428750"/>
              <a:ext cx="247650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0250" y="142875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8894" y="15497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👤 用户输入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49784" y="179974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自然语言问题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52335" y="1958816"/>
              <a:ext cx="11923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"分析2号机组温度异常"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8258175" y="16954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8B949E">
                <a:alpha val="60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29625" y="1428750"/>
              <a:ext cx="247650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9525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29625" y="142875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91714" y="1549718"/>
              <a:ext cx="1152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🧠 Agent 规划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62433" y="179974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意图识别 · 任务拆分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10760" y="1958816"/>
              <a:ext cx="1914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[query_data, trend_analysis, ...]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04724" y="21717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29625" y="2476500"/>
              <a:ext cx="247650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9525">
              <a:solidFill>
                <a:srgbClr val="BC8CFF">
                  <a:alpha val="50000"/>
                </a:srgbClr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429625" y="247650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67530" y="2597468"/>
              <a:ext cx="1000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🔧 Tool 调用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93772" y="2847499"/>
              <a:ext cx="1348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数据查询 · FAISS检索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00356" y="3006566"/>
              <a:ext cx="17350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Tool: data_query, rag_diagnose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8362950" y="27432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66675"/>
                  </a:moveTo>
                  <a:lnTo>
                    <a:pt x="95250" y="0"/>
                  </a:lnTo>
                  <a:lnTo>
                    <a:pt x="95250" y="133350"/>
                  </a:lnTo>
                  <a:close/>
                </a:path>
              </a:pathLst>
            </a:custGeom>
            <a:solidFill>
              <a:srgbClr val="8B949E">
                <a:alpha val="60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10250" y="2476500"/>
              <a:ext cx="2476500" cy="666750"/>
            </a:xfrm>
            <a:prstGeom prst="roundRect">
              <a:avLst>
                <a:gd name="adj" fmla="val 8571"/>
              </a:avLst>
            </a:prstGeom>
            <a:solidFill>
              <a:srgbClr val="1C2333"/>
            </a:solidFill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0250" y="2476500"/>
              <a:ext cx="2476500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78894" y="259746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⚡ 执行结果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43058" y="28474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返回数据 · 检索结果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24614" y="3006566"/>
              <a:ext cx="1447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{ temperature: 562, ... }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85349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6E7681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0250" y="3524250"/>
              <a:ext cx="5048250" cy="571500"/>
            </a:xfrm>
            <a:prstGeom prst="roundRect">
              <a:avLst>
                <a:gd name="adj" fmla="val 10000"/>
              </a:avLst>
            </a:prstGeom>
            <a:solidFill>
              <a:srgbClr val="0D3B66"/>
            </a:solidFill>
            <a:ln w="14288">
              <a:solidFill>
                <a:srgbClr val="58A6FF">
                  <a:alpha val="70000"/>
                </a:srgbClr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01019" y="3645218"/>
              <a:ext cx="2866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📊 LLM 推理合成 → 最终诊断报告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87345" y="3895249"/>
              <a:ext cx="2694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异常信息 + 检索案例 + 趋势数据 → 结构化输出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5706618" y="42033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日志记录详情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5810250" y="4552950"/>
            <a:ext cx="5619750" cy="1543050"/>
            <a:chOff x="5810250" y="4552950"/>
            <a:chExt cx="5619750" cy="1543050"/>
          </a:xfrm>
        </p:grpSpPr>
        <p:sp>
          <p:nvSpPr>
            <p:cNvPr id="71" name="Rectangle 71"/>
            <p:cNvSpPr/>
            <p:nvPr/>
          </p:nvSpPr>
          <p:spPr>
            <a:xfrm>
              <a:off x="5810250" y="4552950"/>
              <a:ext cx="5619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95416" y="46586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[14:00:12]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47916" y="4658678"/>
              <a:ext cx="20088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Intent → "anomaly_diagnosis"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810250" y="4953000"/>
              <a:ext cx="5619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95416" y="505872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29922"/>
                  </a:solidFill>
                  <a:latin typeface="Arial"/>
                  <a:ea typeface="Arial"/>
                  <a:cs typeface="Arial"/>
                </a:rPr>
                <a:t>[14:00:15]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47916" y="5058728"/>
              <a:ext cx="4405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ToolCall → query_data(device="2号机组", param="steam_temp")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0250" y="5353050"/>
              <a:ext cx="5619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95416" y="5458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C8CFF"/>
                  </a:solidFill>
                  <a:latin typeface="Arial"/>
                  <a:ea typeface="Arial"/>
                  <a:cs typeface="Arial"/>
                </a:rPr>
                <a:t>[14:00:22]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47916" y="5458778"/>
              <a:ext cx="3308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ToolCall → rag_diagnose(anomaly_info, top_k=3)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810250" y="5753100"/>
              <a:ext cx="5619750" cy="342900"/>
            </a:xfrm>
            <a:prstGeom prst="roundRect">
              <a:avLst>
                <a:gd name="adj" fmla="val 11111"/>
              </a:avLst>
            </a:prstGeom>
            <a:solidFill>
              <a:srgbClr val="1C2333"/>
            </a:solidFill>
            <a:ln w="4762">
              <a:solidFill>
                <a:srgbClr val="3FB950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95416" y="585882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FB950"/>
                  </a:solidFill>
                  <a:latin typeface="Arial"/>
                  <a:ea typeface="Arial"/>
                  <a:cs typeface="Arial"/>
                </a:rPr>
                <a:t>[14:00:35]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47916" y="5858828"/>
              <a:ext cx="3916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Response → 诊断报告已生成 · 会话ID: sess_20260709_1400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1238250"/>
            <a:ext cx="12192000" cy="3724275"/>
            <a:chOff x="0" y="1238250"/>
            <a:chExt cx="12192000" cy="3724275"/>
          </a:xfrm>
        </p:grpSpPr>
        <p:sp>
          <p:nvSpPr>
            <p:cNvPr id="2" name="Line 2"/>
            <p:cNvSpPr/>
            <p:nvPr/>
          </p:nvSpPr>
          <p:spPr>
            <a:xfrm>
              <a:off x="0" y="123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F8514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3598" y="136208"/>
            <a:ext cx="28219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Web 监盘系统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02380" y="314325"/>
            <a:ext cx="43380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Vue3 + ECharts · 8大功能页面 · 人机协同闭环</a:t>
            </a:r>
          </a:p>
        </p:txBody>
      </p:sp>
      <p:sp>
        <p:nvSpPr>
          <p:cNvPr id="9" name="Line 9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76250" y="809625"/>
            <a:ext cx="11239500" cy="714375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7620">
            <a:solidFill>
              <a:srgbClr val="58A6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76250" y="809625"/>
            <a:ext cx="11239500" cy="714375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85149">
                  <a:alpha val="8000"/>
                </a:srgbClr>
              </a:gs>
              <a:gs pos="100000">
                <a:srgbClr val="58A6FF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754380" y="952500"/>
            <a:ext cx="9907524" cy="381000"/>
            <a:chOff x="754380" y="952500"/>
            <a:chExt cx="9907524" cy="381000"/>
          </a:xfrm>
        </p:grpSpPr>
        <p:sp>
          <p:nvSpPr>
            <p:cNvPr id="12" name="TextBox 12"/>
            <p:cNvSpPr txBox="1"/>
            <p:nvPr/>
          </p:nvSpPr>
          <p:spPr>
            <a:xfrm>
              <a:off x="754380" y="962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前端技术栈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000250" y="9525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1C2333"/>
            </a:solidFill>
            <a:ln w="4762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46275" y="1054418"/>
              <a:ext cx="441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FB950"/>
                  </a:solidFill>
                  <a:latin typeface="Arial"/>
                  <a:ea typeface="Arial"/>
                  <a:cs typeface="Arial"/>
                </a:rPr>
                <a:t>Vue3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524250" y="9525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1C2333"/>
            </a:solidFill>
            <a:ln w="4762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10865" y="1054418"/>
              <a:ext cx="76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8A6FF"/>
                  </a:solidFill>
                  <a:latin typeface="Arial"/>
                  <a:ea typeface="Arial"/>
                  <a:cs typeface="Arial"/>
                </a:rPr>
                <a:t>ECharts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9525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1C2333"/>
            </a:solidFill>
            <a:ln w="4762">
              <a:solidFill>
                <a:srgbClr val="BC8CFF">
                  <a:alpha val="5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10590" y="1054418"/>
              <a:ext cx="100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C8CFF"/>
                  </a:solidFill>
                  <a:latin typeface="Arial"/>
                  <a:ea typeface="Arial"/>
                  <a:cs typeface="Arial"/>
                </a:rPr>
                <a:t>WebSocket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1404" y="10706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实时数据推送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05750" y="95250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1C2333"/>
            </a:solidFill>
            <a:ln w="4762">
              <a:solidFill>
                <a:srgbClr val="D29922">
                  <a:alpha val="5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72473" y="1054418"/>
              <a:ext cx="800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D29922"/>
                  </a:solidFill>
                  <a:latin typeface="Arial"/>
                  <a:ea typeface="Arial"/>
                  <a:cs typeface="Arial"/>
                </a:rPr>
                <a:t>REST API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18904" y="10706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数据查询与控制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476250" y="1666875"/>
            <a:ext cx="11239500" cy="3048000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 w="4762">
            <a:solidFill>
              <a:srgbClr val="F85149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76250" y="1666875"/>
            <a:ext cx="11239500" cy="381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194821" y="17735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八大功能页面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62000" y="2171700"/>
            <a:ext cx="10687050" cy="952500"/>
            <a:chOff x="762000" y="2171700"/>
            <a:chExt cx="10687050" cy="952500"/>
          </a:xfrm>
        </p:grpSpPr>
        <p:sp>
          <p:nvSpPr>
            <p:cNvPr id="27" name="Rectangle 27"/>
            <p:cNvSpPr/>
            <p:nvPr/>
          </p:nvSpPr>
          <p:spPr>
            <a:xfrm>
              <a:off x="762000" y="2171700"/>
              <a:ext cx="2571750" cy="952500"/>
            </a:xfrm>
            <a:prstGeom prst="roundRect">
              <a:avLst>
                <a:gd name="adj" fmla="val 6000"/>
              </a:avLst>
            </a:prstGeom>
            <a:solidFill>
              <a:srgbClr val="0D3B66"/>
            </a:solidFill>
            <a:ln w="19050">
              <a:solidFill>
                <a:srgbClr val="58A6FF">
                  <a:alpha val="8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21717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68171" y="231457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🤖 AI 交互窗口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77137" y="2601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自然语言统一入口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85920" y="2807970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输入指令 → 自动路由到对应功能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2727" y="2958941"/>
              <a:ext cx="7702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★ 核心入口页面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05200" y="2171700"/>
              <a:ext cx="251460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3FB950">
                  <a:alpha val="6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05200" y="2171700"/>
              <a:ext cx="251460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40716" y="23145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📺 实时监控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39810" y="260127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仪表盘 · 实时数据面板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03243" y="2807970"/>
              <a:ext cx="15185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WebSocket推送 · 秒级刷新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91250" y="2171700"/>
              <a:ext cx="251460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D29922">
                  <a:alpha val="60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2171700"/>
              <a:ext cx="251460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26766" y="23145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📈 趋势分析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73907" y="2601278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时序图表 · 数据钻取 · 对比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8993" y="2807970"/>
              <a:ext cx="10991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ECharts交互式图表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77300" y="2171700"/>
              <a:ext cx="257175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F85149">
                  <a:alpha val="6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77300" y="21717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41391" y="23145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🔔 报警中心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69809" y="260127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实时报警 · 风险分级展示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07144" y="2807970"/>
              <a:ext cx="1112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声音+弹窗+推送通知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3286125"/>
            <a:ext cx="10687050" cy="952500"/>
            <a:chOff x="762000" y="3286125"/>
            <a:chExt cx="10687050" cy="952500"/>
          </a:xfrm>
        </p:grpSpPr>
        <p:sp>
          <p:nvSpPr>
            <p:cNvPr id="49" name="Rectangle 49"/>
            <p:cNvSpPr/>
            <p:nvPr/>
          </p:nvSpPr>
          <p:spPr>
            <a:xfrm>
              <a:off x="762000" y="3286125"/>
              <a:ext cx="257175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BC8CFF">
                  <a:alpha val="60000"/>
                </a:srgbClr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2000" y="3286125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26091" y="3429000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🔬 故障诊断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71270" y="37157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RAG诊断报告展示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88815" y="392239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原因分析 · 处理建议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505200" y="3286125"/>
              <a:ext cx="251460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58A6FF">
                  <a:alpha val="60000"/>
                </a:srgbClr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3505200" y="3286125"/>
              <a:ext cx="2514600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40716" y="3429000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📊 历史统计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110485" y="37157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报警趋势 · 类型分布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2282" y="3922395"/>
              <a:ext cx="1360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设备排行 · 风险变化曲线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91250" y="3286125"/>
              <a:ext cx="251460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3FB950">
                  <a:alpha val="60000"/>
                </a:srgbClr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191250" y="3286125"/>
              <a:ext cx="2514600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26766" y="3429000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📋 日志追溯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17805" y="3715702"/>
              <a:ext cx="1261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Agent决策链路回放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89490" y="392239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用户问题 → 最终回复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77300" y="3286125"/>
              <a:ext cx="2571750" cy="952500"/>
            </a:xfrm>
            <a:prstGeom prst="roundRect">
              <a:avLst>
                <a:gd name="adj" fmla="val 6000"/>
              </a:avLst>
            </a:prstGeom>
            <a:solidFill>
              <a:srgbClr val="1C2333"/>
            </a:solidFill>
            <a:ln w="7620">
              <a:solidFill>
                <a:srgbClr val="D29922">
                  <a:alpha val="60000"/>
                </a:srgbClr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77300" y="3286125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D2992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641391" y="3429000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📄 自动报告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0692" y="3715702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一键生成 · PDF导出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34449" y="39223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日报 · 周报 · 异常报告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047875" y="3124200"/>
            <a:ext cx="8115300" cy="161925"/>
            <a:chOff x="2047875" y="3124200"/>
            <a:chExt cx="8115300" cy="161925"/>
          </a:xfrm>
        </p:grpSpPr>
        <p:sp>
          <p:nvSpPr>
            <p:cNvPr id="70" name="Line 70"/>
            <p:cNvSpPr/>
            <p:nvPr/>
          </p:nvSpPr>
          <p:spPr>
            <a:xfrm>
              <a:off x="2047875" y="312420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4288">
              <a:solidFill>
                <a:srgbClr val="58A6FF">
                  <a:alpha val="50000"/>
                </a:srgbClr>
              </a:solidFill>
              <a:custDash>
                <a:ds d="266666" sp="133333"/>
              </a:custDash>
            </a:ln>
          </p:spPr>
        </p:sp>
        <p:sp>
          <p:nvSpPr>
            <p:cNvPr id="71" name="Line 71"/>
            <p:cNvSpPr/>
            <p:nvPr/>
          </p:nvSpPr>
          <p:spPr>
            <a:xfrm>
              <a:off x="2047875" y="3124200"/>
              <a:ext cx="2714625" cy="161925"/>
            </a:xfrm>
            <a:custGeom>
              <a:avLst/>
              <a:gdLst/>
              <a:ahLst/>
              <a:cxnLst/>
              <a:rect l="l" t="t" r="r" b="b"/>
              <a:pathLst>
                <a:path w="2714625" h="161925">
                  <a:moveTo>
                    <a:pt x="0" y="0"/>
                  </a:moveTo>
                  <a:lnTo>
                    <a:pt x="2714625" y="161925"/>
                  </a:lnTo>
                </a:path>
              </a:pathLst>
            </a:custGeom>
            <a:noFill/>
            <a:ln w="4762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047875" y="3124200"/>
              <a:ext cx="5400675" cy="161925"/>
            </a:xfrm>
            <a:custGeom>
              <a:avLst/>
              <a:gdLst/>
              <a:ahLst/>
              <a:cxnLst/>
              <a:rect l="l" t="t" r="r" b="b"/>
              <a:pathLst>
                <a:path w="5400675" h="161925">
                  <a:moveTo>
                    <a:pt x="0" y="0"/>
                  </a:moveTo>
                  <a:lnTo>
                    <a:pt x="5400675" y="161925"/>
                  </a:lnTo>
                </a:path>
              </a:pathLst>
            </a:custGeom>
            <a:noFill/>
            <a:ln w="4762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047875" y="3124200"/>
              <a:ext cx="8115300" cy="161925"/>
            </a:xfrm>
            <a:custGeom>
              <a:avLst/>
              <a:gdLst/>
              <a:ahLst/>
              <a:cxnLst/>
              <a:rect l="l" t="t" r="r" b="b"/>
              <a:pathLst>
                <a:path w="8115300" h="161925">
                  <a:moveTo>
                    <a:pt x="0" y="0"/>
                  </a:moveTo>
                  <a:lnTo>
                    <a:pt x="8115300" y="161925"/>
                  </a:lnTo>
                </a:path>
              </a:pathLst>
            </a:custGeom>
            <a:noFill/>
            <a:ln w="4762">
              <a:solidFill>
                <a:srgbClr val="58A6FF">
                  <a:alpha val="20000"/>
                </a:srgbClr>
              </a:solidFill>
            </a:ln>
          </p:spPr>
        </p:sp>
      </p:grpSp>
      <p:sp>
        <p:nvSpPr>
          <p:cNvPr id="75" name="Rectangle 75"/>
          <p:cNvSpPr/>
          <p:nvPr/>
        </p:nvSpPr>
        <p:spPr>
          <a:xfrm>
            <a:off x="476250" y="4886325"/>
            <a:ext cx="11239500" cy="123825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4762">
            <a:solidFill>
              <a:srgbClr val="3FB950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476250" y="4886325"/>
            <a:ext cx="11239500" cy="381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069129" y="497776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人机协同交互闭环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762000" y="5381625"/>
            <a:ext cx="10668000" cy="400050"/>
            <a:chOff x="762000" y="5381625"/>
            <a:chExt cx="10668000" cy="400050"/>
          </a:xfrm>
        </p:grpSpPr>
        <p:sp>
          <p:nvSpPr>
            <p:cNvPr id="78" name="Rectangle 78"/>
            <p:cNvSpPr/>
            <p:nvPr/>
          </p:nvSpPr>
          <p:spPr>
            <a:xfrm>
              <a:off x="762000" y="5381625"/>
              <a:ext cx="1905000" cy="400050"/>
            </a:xfrm>
            <a:prstGeom prst="roundRect">
              <a:avLst>
                <a:gd name="adj" fmla="val 14286"/>
              </a:avLst>
            </a:prstGeom>
            <a:solidFill>
              <a:srgbClr val="1C2333"/>
            </a:solidFill>
            <a:ln w="9525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74344" y="550926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👤 操作员输入指令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705414" y="5493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952750" y="5381625"/>
              <a:ext cx="2095500" cy="400050"/>
            </a:xfrm>
            <a:prstGeom prst="roundRect">
              <a:avLst>
                <a:gd name="adj" fmla="val 14286"/>
              </a:avLst>
            </a:prstGeom>
            <a:solidFill>
              <a:srgbClr val="0D3B66"/>
            </a:solidFill>
            <a:ln w="14288">
              <a:solidFill>
                <a:srgbClr val="58A6FF">
                  <a:alpha val="70000"/>
                </a:srgbClr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381985" y="5509260"/>
              <a:ext cx="1237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🤖 AI Agent 分析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86664" y="5493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0" y="5381625"/>
              <a:ext cx="1905000" cy="400050"/>
            </a:xfrm>
            <a:prstGeom prst="roundRect">
              <a:avLst>
                <a:gd name="adj" fmla="val 14286"/>
              </a:avLst>
            </a:prstGeom>
            <a:solidFill>
              <a:srgbClr val="1C2333"/>
            </a:solidFill>
            <a:ln w="9525">
              <a:solidFill>
                <a:srgbClr val="3FB950">
                  <a:alpha val="50000"/>
                </a:srgbClr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646344" y="550926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📊 可视化呈现结果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77414" y="5493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524750" y="5381625"/>
              <a:ext cx="1905000" cy="400050"/>
            </a:xfrm>
            <a:prstGeom prst="roundRect">
              <a:avLst>
                <a:gd name="adj" fmla="val 14286"/>
              </a:avLst>
            </a:prstGeom>
            <a:solidFill>
              <a:srgbClr val="1C2333"/>
            </a:solidFill>
            <a:ln w="9525">
              <a:solidFill>
                <a:srgbClr val="BC8CFF">
                  <a:alpha val="50000"/>
                </a:srgbClr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837094" y="550926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👤 操作员确认决策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468164" y="54930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715500" y="5381625"/>
              <a:ext cx="1714500" cy="400050"/>
            </a:xfrm>
            <a:prstGeom prst="roundRect">
              <a:avLst>
                <a:gd name="adj" fmla="val 14286"/>
              </a:avLst>
            </a:prstGeom>
            <a:solidFill>
              <a:srgbClr val="1C2333"/>
            </a:solidFill>
            <a:ln w="9525">
              <a:solidFill>
                <a:srgbClr val="F85149">
                  <a:alpha val="50000"/>
                </a:srgbClr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174910" y="55092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⚡ 闭环执行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3906012" y="5898356"/>
            <a:ext cx="43799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AI提供洞察 → 人做最终决策 → 结果反馈至模型 → 持续学习优化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8A6FF">
                  <a:alpha val="6000"/>
                </a:srgbClr>
              </a:gs>
              <a:gs pos="100000">
                <a:srgbClr val="58A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2858">
              <a:solidFill>
                <a:srgbClr val="21262D">
                  <a:alpha val="30000"/>
                </a:srgbClr>
              </a:solidFill>
            </a:ln>
          </p:spPr>
        </p:sp>
      </p:grpSp>
      <p:sp>
        <p:nvSpPr>
          <p:cNvPr id="10" name="Rectangle 10"/>
          <p:cNvSpPr/>
          <p:nvPr/>
        </p:nvSpPr>
        <p:spPr>
          <a:xfrm>
            <a:off x="476250" y="209550"/>
            <a:ext cx="38100" cy="3429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3598" y="136208"/>
            <a:ext cx="35940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技术栈总览与总结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45380" y="314325"/>
            <a:ext cx="37105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五大技术底座 · 八大模块 · 智能运维闭环</a:t>
            </a:r>
          </a:p>
        </p:txBody>
      </p:sp>
      <p:sp>
        <p:nvSpPr>
          <p:cNvPr id="13" name="Line 13"/>
          <p:cNvSpPr/>
          <p:nvPr/>
        </p:nvSpPr>
        <p:spPr>
          <a:xfrm>
            <a:off x="476250" y="647700"/>
            <a:ext cx="11239500" cy="9525"/>
          </a:xfrm>
          <a:custGeom>
            <a:avLst/>
            <a:gdLst/>
            <a:ahLst/>
            <a:cxnLst/>
            <a:rect l="l" t="t" r="r" b="b"/>
            <a:pathLst>
              <a:path w="11239500" h="9525">
                <a:moveTo>
                  <a:pt x="0" y="0"/>
                </a:moveTo>
                <a:lnTo>
                  <a:pt x="112395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3048000" y="852488"/>
            <a:ext cx="6096000" cy="742187"/>
            <a:chOff x="3048000" y="852488"/>
            <a:chExt cx="6096000" cy="742187"/>
          </a:xfrm>
        </p:grpSpPr>
        <p:sp>
          <p:nvSpPr>
            <p:cNvPr id="14" name="TextBox 14"/>
            <p:cNvSpPr txBox="1"/>
            <p:nvPr/>
          </p:nvSpPr>
          <p:spPr>
            <a:xfrm>
              <a:off x="3699272" y="852488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gradFill>
                    <a:gsLst>
                      <a:gs pos="0">
                        <a:srgbClr val="58A6FF"/>
                      </a:gs>
                      <a:gs pos="50000">
                        <a:srgbClr val="BC8CFF"/>
                      </a:gs>
                      <a:gs pos="100000">
                        <a:srgbClr val="3FB950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从数据感知到智能决策的完整闭环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048000" y="1238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58A6FF">
                  <a:alpha val="4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84191" y="1330642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让 AI 成为电厂的"数字值长"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476250" y="1695450"/>
            <a:ext cx="11239500" cy="3238500"/>
          </a:xfrm>
          <a:prstGeom prst="roundRect">
            <a:avLst>
              <a:gd name="adj" fmla="val 1765"/>
            </a:avLst>
          </a:prstGeom>
          <a:solidFill>
            <a:srgbClr val="161B22"/>
          </a:solidFill>
          <a:ln w="4762">
            <a:solidFill>
              <a:srgbClr val="30363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46402" y="179260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核心技术栈一览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49469" y="2238375"/>
            <a:ext cx="10680531" cy="1184606"/>
            <a:chOff x="749469" y="2238375"/>
            <a:chExt cx="10680531" cy="1184606"/>
          </a:xfrm>
        </p:grpSpPr>
        <p:sp>
          <p:nvSpPr>
            <p:cNvPr id="20" name="Rectangle 20"/>
            <p:cNvSpPr/>
            <p:nvPr/>
          </p:nvSpPr>
          <p:spPr>
            <a:xfrm>
              <a:off x="749469" y="2238375"/>
              <a:ext cx="2619375" cy="1143000"/>
            </a:xfrm>
            <a:prstGeom prst="roundRect">
              <a:avLst>
                <a:gd name="adj" fmla="val 5000"/>
              </a:avLst>
            </a:prstGeom>
            <a:solidFill>
              <a:srgbClr val="1C2333"/>
            </a:solidFill>
            <a:ln w="7620">
              <a:solidFill>
                <a:srgbClr val="58A6F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2238375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11249" y="239077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🤖 AI 引擎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26670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23311" y="2783681"/>
              <a:ext cx="687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DeepSeek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81663" y="3021806"/>
              <a:ext cx="770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LangGraph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6459" y="3185160"/>
              <a:ext cx="128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Whisper / FunASR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76625" y="2238375"/>
              <a:ext cx="2619375" cy="1143000"/>
            </a:xfrm>
            <a:prstGeom prst="roundRect">
              <a:avLst>
                <a:gd name="adj" fmla="val 5000"/>
              </a:avLst>
            </a:prstGeom>
            <a:solidFill>
              <a:srgbClr val="1C2333"/>
            </a:solidFill>
            <a:ln w="7620">
              <a:solidFill>
                <a:srgbClr val="3FB95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76625" y="2238375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65779" y="239077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📊 数据层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762375" y="26670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34437" y="2783681"/>
              <a:ext cx="894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PostgreSQL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45048" y="3010281"/>
              <a:ext cx="895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TimescaleDB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2102" y="3202953"/>
              <a:ext cx="1259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FAISS 向量数据库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91250" y="2238375"/>
              <a:ext cx="2619375" cy="1143000"/>
            </a:xfrm>
            <a:prstGeom prst="roundRect">
              <a:avLst>
                <a:gd name="adj" fmla="val 5000"/>
              </a:avLst>
            </a:prstGeom>
            <a:solidFill>
              <a:srgbClr val="1C2333"/>
            </a:solidFill>
            <a:ln w="7620">
              <a:solidFill>
                <a:srgbClr val="BC8CF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91250" y="2238375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BC8C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80404" y="239077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🔧 模型层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477000" y="266700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98436" y="2783681"/>
              <a:ext cx="395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LSTM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96566" y="2976086"/>
              <a:ext cx="599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Prophet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96566" y="3167919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8B949E"/>
                  </a:solidFill>
                  <a:latin typeface="Arial"/>
                  <a:ea typeface="Microsoft YaHei"/>
                  <a:cs typeface="Arial"/>
                </a:rPr>
                <a:t>工况识别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905875" y="2238375"/>
              <a:ext cx="2524125" cy="1143000"/>
            </a:xfrm>
            <a:prstGeom prst="roundRect">
              <a:avLst>
                <a:gd name="adj" fmla="val 5000"/>
              </a:avLst>
            </a:prstGeom>
            <a:solidFill>
              <a:srgbClr val="1C2333"/>
            </a:solidFill>
            <a:ln w="7620">
              <a:solidFill>
                <a:srgbClr val="F85149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05875" y="2238375"/>
              <a:ext cx="2524125" cy="38100"/>
            </a:xfrm>
            <a:prstGeom prst="roundRect">
              <a:avLst>
                <a:gd name="adj" fmla="val 50000"/>
              </a:avLst>
            </a:prstGeom>
            <a:solidFill>
              <a:srgbClr val="F851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47404" y="239077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🌐 前端层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191625" y="266700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1952625" h="9525">
                  <a:moveTo>
                    <a:pt x="0" y="0"/>
                  </a:moveTo>
                  <a:lnTo>
                    <a:pt x="1952625" y="0"/>
                  </a:lnTo>
                </a:path>
              </a:pathLst>
            </a:custGeom>
            <a:noFill/>
            <a:ln w="4762">
              <a:solidFill>
                <a:srgbClr val="30363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87725" y="2783681"/>
              <a:ext cx="350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Vue3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64756" y="2975764"/>
              <a:ext cx="603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0F6FC"/>
                  </a:solidFill>
                  <a:latin typeface="Arial"/>
                  <a:ea typeface="Arial"/>
                  <a:cs typeface="Arial"/>
                </a:rPr>
                <a:t>ECharts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93363" y="3172816"/>
              <a:ext cx="13323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WebSocket + REST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476625" y="3524250"/>
            <a:ext cx="5334000" cy="533400"/>
            <a:chOff x="3476625" y="3524250"/>
            <a:chExt cx="5334000" cy="533400"/>
          </a:xfrm>
        </p:grpSpPr>
        <p:sp>
          <p:nvSpPr>
            <p:cNvPr id="49" name="Rectangle 49"/>
            <p:cNvSpPr/>
            <p:nvPr/>
          </p:nvSpPr>
          <p:spPr>
            <a:xfrm>
              <a:off x="3476625" y="3524250"/>
              <a:ext cx="5334000" cy="533400"/>
            </a:xfrm>
            <a:prstGeom prst="roundRect">
              <a:avLst>
                <a:gd name="adj" fmla="val 10714"/>
              </a:avLst>
            </a:prstGeom>
            <a:solidFill>
              <a:srgbClr val="1C2333"/>
            </a:solidFill>
            <a:ln w="4762">
              <a:solidFill>
                <a:srgbClr val="D29922">
                  <a:alpha val="4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4926" y="3650456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0F6FC"/>
                  </a:solidFill>
                  <a:latin typeface="Arial"/>
                  <a:ea typeface="Microsoft YaHei"/>
                  <a:cs typeface="Arial"/>
                </a:rPr>
                <a:t>+ 更多技术栈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33969" y="3857149"/>
              <a:ext cx="5019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Python · Scikit-Learn · Sentence-BERT · Docker · Git · Prometheus · Grafana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476250" y="5095875"/>
            <a:ext cx="11239500" cy="9525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4762">
            <a:solidFill>
              <a:srgbClr val="58A6FF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922831" y="5187315"/>
            <a:ext cx="23463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0F6FC"/>
                </a:solidFill>
                <a:latin typeface="Arial"/>
                <a:ea typeface="Microsoft YaHei"/>
                <a:cs typeface="Arial"/>
              </a:rPr>
              <a:t>八大模块 · 全景架构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843832" y="5537835"/>
            <a:ext cx="8504336" cy="466249"/>
            <a:chOff x="1843832" y="5537835"/>
            <a:chExt cx="8504336" cy="466249"/>
          </a:xfrm>
        </p:grpSpPr>
        <p:sp>
          <p:nvSpPr>
            <p:cNvPr id="55" name="TextBox 55"/>
            <p:cNvSpPr txBox="1"/>
            <p:nvPr/>
          </p:nvSpPr>
          <p:spPr>
            <a:xfrm>
              <a:off x="1843832" y="5537835"/>
              <a:ext cx="8504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智能Agent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数据管理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趋势分析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智能预警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BC8CFF"/>
                  </a:solidFill>
                  <a:latin typeface="Arial"/>
                  <a:ea typeface="Microsoft YaHei"/>
                  <a:cs typeface="Arial"/>
                </a:rPr>
                <a:t>RAG诊断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3FB950"/>
                  </a:solidFill>
                  <a:latin typeface="Arial"/>
                  <a:ea typeface="Microsoft YaHei"/>
                  <a:cs typeface="Arial"/>
                </a:rPr>
                <a:t>自适应优化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D29922"/>
                  </a:solidFill>
                  <a:latin typeface="Arial"/>
                  <a:ea typeface="Microsoft YaHei"/>
                  <a:cs typeface="Arial"/>
                </a:rPr>
                <a:t>预警统计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·  </a:t>
              </a:r>
              <a:r>
                <a:rPr lang="zh-CN" sz="1200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报告日志</a:t>
              </a:r>
              <a:r>
                <a:rPr lang="en-US" sz="1200" dirty="0">
                  <a:solidFill>
                    <a:srgbClr val="8B949E"/>
                  </a:solidFill>
                  <a:latin typeface="Arial"/>
                  <a:ea typeface="Arial"/>
                  <a:cs typeface="Arial"/>
                </a:rPr>
                <a:t>  +  </a:t>
              </a:r>
              <a:r>
                <a:rPr lang="zh-CN" sz="1200" dirty="0">
                  <a:solidFill>
                    <a:srgbClr val="F85149"/>
                  </a:solidFill>
                  <a:latin typeface="Arial"/>
                  <a:ea typeface="Microsoft YaHei"/>
                  <a:cs typeface="Arial"/>
                </a:rPr>
                <a:t>Web监盘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75817" y="5784056"/>
              <a:ext cx="5840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E7681"/>
                  </a:solidFill>
                  <a:latin typeface="Arial"/>
                  <a:ea typeface="Microsoft YaHei"/>
                  <a:cs typeface="Arial"/>
                </a:rPr>
                <a:t>四大基础能力：LLM Agent × 工业时序 × RAG知识 × 自适应优化 → 完整智能运维生态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289946" y="6283642"/>
            <a:ext cx="36121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—— 构建从数据感知到智能决策的完整闭环 ——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90500" y="190500"/>
            <a:ext cx="11811000" cy="6477000"/>
            <a:chOff x="190500" y="190500"/>
            <a:chExt cx="11811000" cy="6477000"/>
          </a:xfrm>
        </p:grpSpPr>
        <p:sp>
          <p:nvSpPr>
            <p:cNvPr id="59" name="Polyline 59"/>
            <p:cNvSpPr/>
            <p:nvPr/>
          </p:nvSpPr>
          <p:spPr>
            <a:xfrm>
              <a:off x="190500" y="190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60" name="Polyline 60"/>
            <p:cNvSpPr/>
            <p:nvPr/>
          </p:nvSpPr>
          <p:spPr>
            <a:xfrm>
              <a:off x="11811000" y="190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19050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61" name="Polyline 61"/>
            <p:cNvSpPr/>
            <p:nvPr/>
          </p:nvSpPr>
          <p:spPr>
            <a:xfrm>
              <a:off x="1905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  <p:sp>
          <p:nvSpPr>
            <p:cNvPr id="62" name="Polyline 62"/>
            <p:cNvSpPr/>
            <p:nvPr/>
          </p:nvSpPr>
          <p:spPr>
            <a:xfrm>
              <a:off x="118110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58A6FF">
                  <a:alpha val="20000"/>
                </a:srgbClr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11428019" y="65379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2391</Words>
  <Application>Microsoft Office PowerPoint</Application>
  <PresentationFormat>宽屏</PresentationFormat>
  <Paragraphs>486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长标 孙</cp:lastModifiedBy>
  <cp:revision>3</cp:revision>
  <dcterms:created xsi:type="dcterms:W3CDTF">2026-07-09T09:52:46Z</dcterms:created>
  <dcterms:modified xsi:type="dcterms:W3CDTF">2026-07-09T10:07:44Z</dcterms:modified>
  <cp:category/>
  <cp:contentStatus/>
  <dc:language/>
</cp:coreProperties>
</file>